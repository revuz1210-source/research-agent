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hknsNLBMBUN+joSQwMRzTPJ2Gk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A15491-E796-4E81-8152-3437CF97658C}">
  <a:tblStyle styleId="{F1A15491-E796-4E81-8152-3437CF97658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9A53AD15-E30B-4889-A8D1-EA8AA610C10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7f05042c1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7f05042c1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7f05042c1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7f05042c1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7f05042c1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7f05042c1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7f05042c1_3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f7f05042c1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7f05042c1_3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7f05042c1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458307" y="2600315"/>
          <a:ext cx="3000000" cy="3000000"/>
        </p:xfrm>
        <a:graphic>
          <a:graphicData uri="http://schemas.openxmlformats.org/drawingml/2006/table">
            <a:tbl>
              <a:tblPr>
                <a:noFill/>
                <a:tableStyleId>{F1A15491-E796-4E81-8152-3437CF97658C}</a:tableStyleId>
              </a:tblPr>
              <a:tblGrid>
                <a:gridCol w="1621200"/>
                <a:gridCol w="2538250"/>
                <a:gridCol w="2538250"/>
                <a:gridCol w="2538250"/>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a:t>Revathi CV</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revathicv1210@gmail.com</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9061952871</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458289" y="1435524"/>
            <a:ext cx="10280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Domain of  Project – </a:t>
            </a:r>
            <a:r>
              <a:rPr b="1" lang="en-US" sz="2800"/>
              <a:t>Education</a:t>
            </a:r>
            <a:endParaRPr b="1" i="0" sz="2800" u="none" cap="none" strike="noStrike">
              <a:solidFill>
                <a:srgbClr val="000000"/>
              </a:solidFill>
              <a:highlight>
                <a:srgbClr val="FFFF00"/>
              </a:highlight>
              <a:latin typeface="Arial"/>
              <a:ea typeface="Arial"/>
              <a:cs typeface="Arial"/>
              <a:sym typeface="Arial"/>
            </a:endParaRPr>
          </a:p>
        </p:txBody>
      </p:sp>
      <p:sp>
        <p:nvSpPr>
          <p:cNvPr id="88" name="Google Shape;88;p2"/>
          <p:cNvSpPr txBox="1"/>
          <p:nvPr/>
        </p:nvSpPr>
        <p:spPr>
          <a:xfrm>
            <a:off x="1206162" y="551965"/>
            <a:ext cx="95811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Project Tile – </a:t>
            </a:r>
            <a:r>
              <a:rPr b="1" lang="en-US" sz="2800">
                <a:highlight>
                  <a:srgbClr val="FFFF00"/>
                </a:highlight>
              </a:rPr>
              <a:t>Research-agent</a:t>
            </a:r>
            <a:endParaRPr b="1" i="0" sz="2800" u="none" cap="none" strike="noStrike">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11005" y="5210667"/>
            <a:ext cx="6456743"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Recommended font style and size:</a:t>
            </a:r>
            <a:br>
              <a:rPr b="0" i="0" lang="en-US" sz="2000" u="none" cap="none" strike="noStrike">
                <a:solidFill>
                  <a:srgbClr val="FF0000"/>
                </a:solidFill>
                <a:latin typeface="Arial"/>
                <a:ea typeface="Arial"/>
                <a:cs typeface="Arial"/>
                <a:sym typeface="Arial"/>
              </a:rPr>
            </a:br>
            <a:br>
              <a:rPr b="0" i="0" lang="en-US" sz="2000" u="none" cap="none" strike="noStrike">
                <a:solidFill>
                  <a:srgbClr val="000000"/>
                </a:solidFill>
                <a:latin typeface="Arial"/>
                <a:ea typeface="Arial"/>
                <a:cs typeface="Arial"/>
                <a:sym typeface="Arial"/>
              </a:rPr>
            </a:br>
            <a:r>
              <a:rPr b="0" i="0" lang="en-US" sz="2000" u="none" cap="none" strike="noStrike">
                <a:solidFill>
                  <a:srgbClr val="FF0000"/>
                </a:solidFill>
                <a:latin typeface="Arial"/>
                <a:ea typeface="Arial"/>
                <a:cs typeface="Arial"/>
                <a:sym typeface="Arial"/>
              </a:rPr>
              <a:t>Font Style: Arial</a:t>
            </a:r>
            <a:br>
              <a:rPr b="0" i="0" lang="en-US" sz="2000" u="none" cap="none" strike="noStrike">
                <a:solidFill>
                  <a:srgbClr val="FF0000"/>
                </a:solidFill>
                <a:latin typeface="Arial"/>
                <a:ea typeface="Arial"/>
                <a:cs typeface="Arial"/>
                <a:sym typeface="Arial"/>
              </a:rPr>
            </a:br>
            <a:r>
              <a:rPr b="0" i="0" lang="en-US" sz="2000" u="none" cap="none" strike="noStrike">
                <a:solidFill>
                  <a:srgbClr val="FF0000"/>
                </a:solidFill>
                <a:latin typeface="Arial"/>
                <a:ea typeface="Arial"/>
                <a:cs typeface="Arial"/>
                <a:sym typeface="Arial"/>
              </a:rPr>
              <a:t>Font Size (Heading): 28</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Font Size (Content): 20</a:t>
            </a:r>
            <a:endParaRPr/>
          </a:p>
        </p:txBody>
      </p:sp>
      <p:pic>
        <p:nvPicPr>
          <p:cNvPr id="90" name="Google Shape;90;p2" title="Screenshot_2026-07-10-18-56-30-48_99c04817c0de5652397fc8b56c3b3817~2.jpg"/>
          <p:cNvPicPr preferRelativeResize="0"/>
          <p:nvPr/>
        </p:nvPicPr>
        <p:blipFill>
          <a:blip r:embed="rId3">
            <a:alphaModFix/>
          </a:blip>
          <a:stretch>
            <a:fillRect/>
          </a:stretch>
        </p:blipFill>
        <p:spPr>
          <a:xfrm>
            <a:off x="3655926" y="3339475"/>
            <a:ext cx="1032126" cy="14279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4"/>
          <p:cNvSpPr txBox="1"/>
          <p:nvPr/>
        </p:nvSpPr>
        <p:spPr>
          <a:xfrm>
            <a:off x="385575" y="346650"/>
            <a:ext cx="10018800" cy="7095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Problem Statement : </a:t>
            </a:r>
            <a:r>
              <a:rPr b="1" lang="en-US" sz="2000"/>
              <a:t>Research-agent</a:t>
            </a:r>
            <a:endParaRPr b="1"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The Challenge</a:t>
            </a:r>
            <a:r>
              <a:rPr b="0" i="0" lang="en-US" sz="2000" u="none" cap="none" strike="noStrike">
                <a:solidFill>
                  <a:srgbClr val="000000"/>
                </a:solidFill>
                <a:latin typeface="Arial"/>
                <a:ea typeface="Arial"/>
                <a:cs typeface="Arial"/>
                <a:sym typeface="Arial"/>
              </a:rPr>
              <a:t> A Research Agent is an AI system designed to assist with academic and scientific</a:t>
            </a:r>
            <a:endParaRPr b="0" i="0" sz="2000" u="none" cap="none" strike="noStrike">
              <a:solidFill>
                <a:srgbClr val="000000"/>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0" i="0" lang="en-US" sz="2000" u="none" cap="none" strike="noStrike">
                <a:solidFill>
                  <a:srgbClr val="000000"/>
                </a:solidFill>
                <a:latin typeface="Arial"/>
                <a:ea typeface="Arial"/>
                <a:cs typeface="Arial"/>
                <a:sym typeface="Arial"/>
              </a:rPr>
              <a:t>research tasks. It can autonomously search for literature, summarize papers, and organize references.</a:t>
            </a:r>
            <a:endParaRPr b="0" i="0" sz="2000" u="none" cap="none" strike="noStrike">
              <a:solidFill>
                <a:srgbClr val="000000"/>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0" i="0" lang="en-US" sz="2000" u="none" cap="none" strike="noStrike">
                <a:solidFill>
                  <a:srgbClr val="000000"/>
                </a:solidFill>
                <a:latin typeface="Arial"/>
                <a:ea typeface="Arial"/>
                <a:cs typeface="Arial"/>
                <a:sym typeface="Arial"/>
              </a:rPr>
              <a:t>Using natural language processing, it understands research questions and retrieves relevant</a:t>
            </a:r>
            <a:endParaRPr b="0" i="0" sz="2000" u="none" cap="none" strike="noStrike">
              <a:solidFill>
                <a:srgbClr val="000000"/>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0" i="0" lang="en-US" sz="2000" u="none" cap="none" strike="noStrike">
                <a:solidFill>
                  <a:srgbClr val="000000"/>
                </a:solidFill>
                <a:latin typeface="Arial"/>
                <a:ea typeface="Arial"/>
                <a:cs typeface="Arial"/>
                <a:sym typeface="Arial"/>
              </a:rPr>
              <a:t>information.</a:t>
            </a:r>
            <a:endParaRPr b="0" i="0" sz="2000" u="none" cap="none" strike="noStrike">
              <a:solidFill>
                <a:srgbClr val="000000"/>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0" i="0" lang="en-US" sz="2000" u="none" cap="none" strike="noStrike">
                <a:solidFill>
                  <a:srgbClr val="000000"/>
                </a:solidFill>
                <a:latin typeface="Arial"/>
                <a:ea typeface="Arial"/>
                <a:cs typeface="Arial"/>
                <a:sym typeface="Arial"/>
              </a:rPr>
              <a:t>The agent can generate reports, suggest hypotheses, and even draft sections of research papers.</a:t>
            </a:r>
            <a:endParaRPr b="0" i="0" sz="2000" u="none" cap="none" strike="noStrike">
              <a:solidFill>
                <a:srgbClr val="000000"/>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0" i="0" lang="en-US" sz="2000" u="none" cap="none" strike="noStrike">
                <a:solidFill>
                  <a:srgbClr val="000000"/>
                </a:solidFill>
                <a:latin typeface="Arial"/>
                <a:ea typeface="Arial"/>
                <a:cs typeface="Arial"/>
                <a:sym typeface="Arial"/>
              </a:rPr>
              <a:t>It saves time by automating repetitive tasks like citation management and data extraction.</a:t>
            </a:r>
            <a:endParaRPr b="0" i="0" sz="2000" u="none" cap="none" strike="noStrike">
              <a:solidFill>
                <a:srgbClr val="000000"/>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0" i="0" lang="en-US" sz="2000" u="none" cap="none" strike="noStrike">
                <a:solidFill>
                  <a:srgbClr val="000000"/>
                </a:solidFill>
                <a:latin typeface="Arial"/>
                <a:ea typeface="Arial"/>
                <a:cs typeface="Arial"/>
                <a:sym typeface="Arial"/>
              </a:rPr>
              <a:t>Research Agents enhance efficiency, accuracy, and innovation in both academic and industrial R&amp;D.</a:t>
            </a:r>
            <a:endParaRPr sz="2000"/>
          </a:p>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The Objective</a:t>
            </a:r>
            <a:r>
              <a:rPr b="0" i="0" lang="en-US"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rPr>
              <a:t>The primary objective of this project is to develop an </a:t>
            </a:r>
            <a:r>
              <a:rPr b="1" lang="en-US" sz="2000">
                <a:solidFill>
                  <a:schemeClr val="dk1"/>
                </a:solidFill>
              </a:rPr>
              <a:t>AI-powered Research Agent</a:t>
            </a:r>
            <a:r>
              <a:rPr lang="en-US" sz="2000">
                <a:solidFill>
                  <a:schemeClr val="dk1"/>
                </a:solidFill>
              </a:rPr>
              <a:t> that assists researchers, students, and professionals in conducting academic and scientific research more efficiently. The system automates the process of searching for relevant research papers, summarizing key findings, organizing references, generating research hypotheses, and creating structured research reports.</a:t>
            </a:r>
            <a:endParaRPr sz="20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b="0" i="0" sz="2000" u="none" cap="none" strike="noStrike">
              <a:solidFill>
                <a:srgbClr val="000000"/>
              </a:solidFill>
              <a:latin typeface="Arial"/>
              <a:ea typeface="Arial"/>
              <a:cs typeface="Arial"/>
              <a:sym typeface="Arial"/>
            </a:endParaRPr>
          </a:p>
        </p:txBody>
      </p:sp>
      <p:sp>
        <p:nvSpPr>
          <p:cNvPr id="96" name="Google Shape;96;p34"/>
          <p:cNvSpPr txBox="1"/>
          <p:nvPr/>
        </p:nvSpPr>
        <p:spPr>
          <a:xfrm>
            <a:off x="385572" y="-12"/>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
        <p:nvSpPr>
          <p:cNvPr id="97" name="Google Shape;97;p34"/>
          <p:cNvSpPr txBox="1"/>
          <p:nvPr/>
        </p:nvSpPr>
        <p:spPr>
          <a:xfrm>
            <a:off x="1276350" y="12908100"/>
            <a:ext cx="11010900" cy="49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f7f05042c1_1_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Font typeface="Arial"/>
              <a:buNone/>
            </a:pPr>
            <a:r>
              <a:t/>
            </a:r>
            <a:endParaRPr sz="2000">
              <a:latin typeface="Arial"/>
              <a:ea typeface="Arial"/>
              <a:cs typeface="Arial"/>
              <a:sym typeface="Arial"/>
            </a:endParaRPr>
          </a:p>
          <a:p>
            <a:pPr indent="0" lvl="0" marL="0" rtl="0" algn="l">
              <a:spcBef>
                <a:spcPts val="0"/>
              </a:spcBef>
              <a:spcAft>
                <a:spcPts val="0"/>
              </a:spcAft>
              <a:buNone/>
            </a:pPr>
            <a:r>
              <a:t/>
            </a:r>
            <a:endParaRPr/>
          </a:p>
        </p:txBody>
      </p:sp>
      <p:sp>
        <p:nvSpPr>
          <p:cNvPr id="103" name="Google Shape;103;g3f7f05042c1_1_2"/>
          <p:cNvSpPr txBox="1"/>
          <p:nvPr>
            <p:ph idx="1" type="body"/>
          </p:nvPr>
        </p:nvSpPr>
        <p:spPr>
          <a:xfrm>
            <a:off x="285750" y="0"/>
            <a:ext cx="10515600" cy="56997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None/>
            </a:pPr>
            <a:r>
              <a:rPr b="1" lang="en-US">
                <a:latin typeface="Arial"/>
                <a:ea typeface="Arial"/>
                <a:cs typeface="Arial"/>
                <a:sym typeface="Arial"/>
              </a:rPr>
              <a:t>Objectives</a:t>
            </a:r>
            <a:endParaRPr b="1">
              <a:latin typeface="Arial"/>
              <a:ea typeface="Arial"/>
              <a:cs typeface="Arial"/>
              <a:sym typeface="Arial"/>
            </a:endParaRPr>
          </a:p>
          <a:p>
            <a:pPr indent="0" lvl="0" marL="0" rtl="0" algn="l">
              <a:lnSpc>
                <a:spcPct val="115000"/>
              </a:lnSpc>
              <a:spcBef>
                <a:spcPts val="1200"/>
              </a:spcBef>
              <a:spcAft>
                <a:spcPts val="0"/>
              </a:spcAft>
              <a:buNone/>
            </a:pPr>
            <a:r>
              <a:rPr b="1" lang="en-US">
                <a:latin typeface="Arial"/>
                <a:ea typeface="Arial"/>
                <a:cs typeface="Arial"/>
                <a:sym typeface="Arial"/>
              </a:rPr>
              <a:t>          </a:t>
            </a:r>
            <a:r>
              <a:rPr lang="en-US" sz="2000">
                <a:latin typeface="Arial"/>
                <a:ea typeface="Arial"/>
                <a:cs typeface="Arial"/>
                <a:sym typeface="Arial"/>
              </a:rPr>
              <a:t>To develop an intelligent research assistant that automates literature search across multiple academic sources.</a:t>
            </a:r>
            <a:endParaRPr sz="2000">
              <a:latin typeface="Arial"/>
              <a:ea typeface="Arial"/>
              <a:cs typeface="Arial"/>
              <a:sym typeface="Arial"/>
            </a:endParaRPr>
          </a:p>
          <a:p>
            <a:pPr indent="-355600" lvl="0" marL="457200" rtl="0" algn="l">
              <a:lnSpc>
                <a:spcPct val="115000"/>
              </a:lnSpc>
              <a:spcBef>
                <a:spcPts val="1200"/>
              </a:spcBef>
              <a:spcAft>
                <a:spcPts val="0"/>
              </a:spcAft>
              <a:buSzPts val="2000"/>
              <a:buChar char="●"/>
            </a:pPr>
            <a:r>
              <a:rPr lang="en-US" sz="2000">
                <a:latin typeface="Arial"/>
                <a:ea typeface="Arial"/>
                <a:cs typeface="Arial"/>
                <a:sym typeface="Arial"/>
              </a:rPr>
              <a:t>To retrieve relevant research papers based on the user's research query.</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To generate concise and meaningful summaries of research papers using Artificial Intelligence.</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To organize and manage research citations in standard academic formats.</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To assist researchers by generating possible research hypotheses from the collected literature.</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To automatically generate well-structured research reports, reducing manual effort.</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To provide an easy-to-use web interface using Streamlit for seamless interaction.</a:t>
            </a:r>
            <a:endParaRPr sz="2000">
              <a:latin typeface="Arial"/>
              <a:ea typeface="Arial"/>
              <a:cs typeface="Arial"/>
              <a:sym typeface="Arial"/>
            </a:endParaRPr>
          </a:p>
          <a:p>
            <a:pPr indent="-355600" lvl="0" marL="457200" rtl="0" algn="l">
              <a:lnSpc>
                <a:spcPct val="115000"/>
              </a:lnSpc>
              <a:spcBef>
                <a:spcPts val="0"/>
              </a:spcBef>
              <a:spcAft>
                <a:spcPts val="0"/>
              </a:spcAft>
              <a:buSzPts val="2000"/>
              <a:buChar char="●"/>
            </a:pPr>
            <a:r>
              <a:rPr lang="en-US" sz="2000">
                <a:latin typeface="Arial"/>
                <a:ea typeface="Arial"/>
                <a:cs typeface="Arial"/>
                <a:sym typeface="Arial"/>
              </a:rPr>
              <a:t>To improve the speed, accuracy, and efficiency of academic research through AI and Natural Language Processing techniques.</a:t>
            </a:r>
            <a:endParaRPr sz="20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t/>
            </a:r>
            <a:endParaRPr b="1">
              <a:latin typeface="Arial"/>
              <a:ea typeface="Arial"/>
              <a:cs typeface="Arial"/>
              <a:sym typeface="Arial"/>
            </a:endParaRPr>
          </a:p>
        </p:txBody>
      </p:sp>
      <p:sp>
        <p:nvSpPr>
          <p:cNvPr id="104" name="Google Shape;104;g3f7f05042c1_1_2"/>
          <p:cNvSpPr txBox="1"/>
          <p:nvPr>
            <p:ph type="title"/>
          </p:nvPr>
        </p:nvSpPr>
        <p:spPr>
          <a:xfrm>
            <a:off x="1314450" y="400367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t/>
            </a:r>
            <a:endParaRPr sz="2000">
              <a:latin typeface="Arial"/>
              <a:ea typeface="Arial"/>
              <a:cs typeface="Arial"/>
              <a:sym typeface="Arial"/>
            </a:endParaRPr>
          </a:p>
          <a:p>
            <a:pPr indent="0" lvl="0" marL="0" rtl="0" algn="l">
              <a:lnSpc>
                <a:spcPct val="100000"/>
              </a:lnSpc>
              <a:spcBef>
                <a:spcPts val="0"/>
              </a:spcBef>
              <a:spcAft>
                <a:spcPts val="0"/>
              </a:spcAft>
              <a:buNone/>
            </a:pPr>
            <a:r>
              <a:t/>
            </a:r>
            <a:endParaRPr sz="2000">
              <a:latin typeface="Arial"/>
              <a:ea typeface="Arial"/>
              <a:cs typeface="Arial"/>
              <a:sym typeface="Arial"/>
            </a:endParaRPr>
          </a:p>
          <a:p>
            <a:pPr indent="0" lvl="0" marL="0" rtl="0" algn="l">
              <a:spcBef>
                <a:spcPts val="0"/>
              </a:spcBef>
              <a:spcAft>
                <a:spcPts val="0"/>
              </a:spcAft>
              <a:buNone/>
            </a:pPr>
            <a:r>
              <a:t/>
            </a:r>
            <a:endParaRPr/>
          </a:p>
        </p:txBody>
      </p:sp>
      <p:sp>
        <p:nvSpPr>
          <p:cNvPr id="105" name="Google Shape;105;g3f7f05042c1_1_2"/>
          <p:cNvSpPr txBox="1"/>
          <p:nvPr>
            <p:ph idx="1" type="body"/>
          </p:nvPr>
        </p:nvSpPr>
        <p:spPr>
          <a:xfrm>
            <a:off x="5695950" y="6419850"/>
            <a:ext cx="6134100" cy="3376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5"/>
          <p:cNvSpPr txBox="1"/>
          <p:nvPr/>
        </p:nvSpPr>
        <p:spPr>
          <a:xfrm>
            <a:off x="552450" y="732000"/>
            <a:ext cx="10513800" cy="7049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a:t>
            </a:r>
            <a:r>
              <a:rPr lang="en-US" sz="2000">
                <a:solidFill>
                  <a:schemeClr val="dk1"/>
                </a:solidFill>
              </a:rPr>
              <a:t>he proposed system is an </a:t>
            </a:r>
            <a:r>
              <a:rPr b="1" lang="en-US" sz="2000">
                <a:solidFill>
                  <a:schemeClr val="dk1"/>
                </a:solidFill>
              </a:rPr>
              <a:t>AI-powered Research Agent</a:t>
            </a:r>
            <a:r>
              <a:rPr lang="en-US" sz="2000">
                <a:solidFill>
                  <a:schemeClr val="dk1"/>
                </a:solidFill>
              </a:rPr>
              <a:t> developed using </a:t>
            </a:r>
            <a:r>
              <a:rPr b="1" lang="en-US" sz="2000">
                <a:solidFill>
                  <a:schemeClr val="dk1"/>
                </a:solidFill>
              </a:rPr>
              <a:t>IBM Cloud Lite</a:t>
            </a:r>
            <a:r>
              <a:rPr lang="en-US" sz="2000">
                <a:solidFill>
                  <a:schemeClr val="dk1"/>
                </a:solidFill>
              </a:rPr>
              <a:t>, </a:t>
            </a:r>
            <a:r>
              <a:rPr b="1" lang="en-US" sz="2000">
                <a:solidFill>
                  <a:schemeClr val="dk1"/>
                </a:solidFill>
              </a:rPr>
              <a:t>IBM watsonx.ai Studio</a:t>
            </a:r>
            <a:r>
              <a:rPr lang="en-US" sz="2000">
                <a:solidFill>
                  <a:schemeClr val="dk1"/>
                </a:solidFill>
              </a:rPr>
              <a:t>, and </a:t>
            </a:r>
            <a:r>
              <a:rPr b="1" lang="en-US" sz="2000">
                <a:solidFill>
                  <a:schemeClr val="dk1"/>
                </a:solidFill>
              </a:rPr>
              <a:t>IBM Granite foundation models</a:t>
            </a:r>
            <a:r>
              <a:rPr lang="en-US" sz="2000">
                <a:solidFill>
                  <a:schemeClr val="dk1"/>
                </a:solidFill>
              </a:rPr>
              <a:t> to automate academic and scientific research tasks. The system enables users to search scholarly literature, generate concise summaries, organize citations, suggest research hypotheses, and create structured research reports.</a:t>
            </a:r>
            <a:endParaRPr sz="2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rPr>
              <a:t>The Research Agent retrieves relevant papers from trusted academic sources such as </a:t>
            </a:r>
            <a:r>
              <a:rPr b="1" lang="en-US" sz="2000">
                <a:solidFill>
                  <a:schemeClr val="dk1"/>
                </a:solidFill>
              </a:rPr>
              <a:t>arXiv, CrossRef, Europe PMC, and Semantic Scholar</a:t>
            </a:r>
            <a:r>
              <a:rPr lang="en-US" sz="2000">
                <a:solidFill>
                  <a:schemeClr val="dk1"/>
                </a:solidFill>
              </a:rPr>
              <a:t> based on the user's research query. IBM Granite models analyze the retrieved information to generate accurate summaries, identify research gaps, and produce meaningful hypotheses. The system also manages references in standard citation formats and automatically generates a comprehensive research report.</a:t>
            </a:r>
            <a:endParaRPr sz="2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rPr>
              <a:t>A user-friendly </a:t>
            </a:r>
            <a:r>
              <a:rPr b="1" lang="en-US" sz="2000">
                <a:solidFill>
                  <a:schemeClr val="dk1"/>
                </a:solidFill>
              </a:rPr>
              <a:t>Streamlit</a:t>
            </a:r>
            <a:r>
              <a:rPr lang="en-US" sz="2000">
                <a:solidFill>
                  <a:schemeClr val="dk1"/>
                </a:solidFill>
              </a:rPr>
              <a:t> interface allows users to enter research topics, explore retrieved papers, view AI-generated summaries, and download the final report. </a:t>
            </a:r>
            <a:r>
              <a:rPr b="1" lang="en-US" sz="2000">
                <a:solidFill>
                  <a:schemeClr val="dk1"/>
                </a:solidFill>
              </a:rPr>
              <a:t>IBM Cloud Lite</a:t>
            </a:r>
            <a:r>
              <a:rPr lang="en-US" sz="2000">
                <a:solidFill>
                  <a:schemeClr val="dk1"/>
                </a:solidFill>
              </a:rPr>
              <a:t> provides the cloud infrastructure, while </a:t>
            </a:r>
            <a:r>
              <a:rPr b="1" lang="en-US" sz="2000">
                <a:solidFill>
                  <a:schemeClr val="dk1"/>
                </a:solidFill>
              </a:rPr>
              <a:t>IBM watsonx.ai</a:t>
            </a:r>
            <a:r>
              <a:rPr lang="en-US" sz="2000">
                <a:solidFill>
                  <a:schemeClr val="dk1"/>
                </a:solidFill>
              </a:rPr>
              <a:t> and </a:t>
            </a:r>
            <a:r>
              <a:rPr b="1" lang="en-US" sz="2000">
                <a:solidFill>
                  <a:schemeClr val="dk1"/>
                </a:solidFill>
              </a:rPr>
              <a:t>IBM Granite</a:t>
            </a:r>
            <a:r>
              <a:rPr lang="en-US" sz="2000">
                <a:solidFill>
                  <a:schemeClr val="dk1"/>
                </a:solidFill>
              </a:rPr>
              <a:t> power the intelligent reasoning, summarization, and report generation capabilities.</a:t>
            </a:r>
            <a:endParaRPr sz="20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000">
              <a:solidFill>
                <a:schemeClr val="dk1"/>
              </a:solidFill>
            </a:endParaRPr>
          </a:p>
          <a:p>
            <a:pPr indent="0" lvl="0" marL="0" marR="0" rtl="0" algn="l">
              <a:lnSpc>
                <a:spcPct val="100000"/>
              </a:lnSpc>
              <a:spcBef>
                <a:spcPts val="1200"/>
              </a:spcBef>
              <a:spcAft>
                <a:spcPts val="0"/>
              </a:spcAft>
              <a:buNone/>
            </a:pPr>
            <a:r>
              <a:t/>
            </a:r>
            <a:endParaRPr b="1"/>
          </a:p>
          <a:p>
            <a:pPr indent="0" lvl="0" marL="0" rtl="0" algn="l">
              <a:lnSpc>
                <a:spcPct val="115000"/>
              </a:lnSpc>
              <a:spcBef>
                <a:spcPts val="1200"/>
              </a:spcBef>
              <a:spcAft>
                <a:spcPts val="1200"/>
              </a:spcAft>
              <a:buSzPts val="1100"/>
              <a:buNone/>
            </a:pPr>
            <a:r>
              <a:t/>
            </a:r>
            <a:endParaRPr b="1" sz="2000"/>
          </a:p>
        </p:txBody>
      </p:sp>
      <p:sp>
        <p:nvSpPr>
          <p:cNvPr id="111" name="Google Shape;111;p35"/>
          <p:cNvSpPr txBox="1"/>
          <p:nvPr/>
        </p:nvSpPr>
        <p:spPr>
          <a:xfrm>
            <a:off x="271172" y="113538"/>
            <a:ext cx="7214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Proposed Solution -</a:t>
            </a:r>
            <a:endParaRPr b="1" i="0" sz="2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17" name="Google Shape;117;p36"/>
          <p:cNvSpPr txBox="1"/>
          <p:nvPr/>
        </p:nvSpPr>
        <p:spPr>
          <a:xfrm>
            <a:off x="777240" y="1207008"/>
            <a:ext cx="10515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118" name="Google Shape;118;p36"/>
          <p:cNvGraphicFramePr/>
          <p:nvPr/>
        </p:nvGraphicFramePr>
        <p:xfrm>
          <a:off x="511763" y="365400"/>
          <a:ext cx="3000000" cy="3000000"/>
        </p:xfrm>
        <a:graphic>
          <a:graphicData uri="http://schemas.openxmlformats.org/drawingml/2006/table">
            <a:tbl>
              <a:tblPr>
                <a:noFill/>
                <a:tableStyleId>{9A53AD15-E30B-4889-A8D1-EA8AA610C105}</a:tableStyleId>
              </a:tblPr>
              <a:tblGrid>
                <a:gridCol w="4532975"/>
                <a:gridCol w="6496950"/>
              </a:tblGrid>
              <a:tr h="580900">
                <a:tc>
                  <a:txBody>
                    <a:bodyPr/>
                    <a:lstStyle/>
                    <a:p>
                      <a:pPr indent="0" lvl="0" marL="0" rtl="0" algn="ctr">
                        <a:lnSpc>
                          <a:spcPct val="115000"/>
                        </a:lnSpc>
                        <a:spcBef>
                          <a:spcPts val="0"/>
                        </a:spcBef>
                        <a:spcAft>
                          <a:spcPts val="0"/>
                        </a:spcAft>
                        <a:buNone/>
                      </a:pPr>
                      <a:r>
                        <a:t/>
                      </a:r>
                      <a:endParaRPr b="1" sz="2800"/>
                    </a:p>
                  </a:txBody>
                  <a:tcPr marT="91425" marB="91425" marR="91425" marL="91425"/>
                </a:tc>
                <a:tc>
                  <a:txBody>
                    <a:bodyPr/>
                    <a:lstStyle/>
                    <a:p>
                      <a:pPr indent="0" lvl="0" marL="0" rtl="0" algn="ctr">
                        <a:lnSpc>
                          <a:spcPct val="115000"/>
                        </a:lnSpc>
                        <a:spcBef>
                          <a:spcPts val="0"/>
                        </a:spcBef>
                        <a:spcAft>
                          <a:spcPts val="0"/>
                        </a:spcAft>
                        <a:buNone/>
                      </a:pPr>
                      <a:r>
                        <a:rPr b="1" lang="en-US" sz="2000"/>
                        <a:t>Purpose</a:t>
                      </a:r>
                      <a:endParaRPr b="1" sz="2000"/>
                    </a:p>
                  </a:txBody>
                  <a:tcPr marT="91425" marB="91425" marR="91425" marL="91425"/>
                </a:tc>
              </a:tr>
              <a:tr h="458500">
                <a:tc>
                  <a:txBody>
                    <a:bodyPr/>
                    <a:lstStyle/>
                    <a:p>
                      <a:pPr indent="0" lvl="0" marL="0" rtl="0" algn="l">
                        <a:spcBef>
                          <a:spcPts val="0"/>
                        </a:spcBef>
                        <a:spcAft>
                          <a:spcPts val="0"/>
                        </a:spcAft>
                        <a:buNone/>
                      </a:pPr>
                      <a:r>
                        <a:rPr b="1" lang="en-US" sz="2000"/>
                        <a:t>Python</a:t>
                      </a:r>
                      <a:endParaRPr b="1" sz="2000"/>
                    </a:p>
                  </a:txBody>
                  <a:tcPr marT="91425" marB="91425" marR="91425" marL="91425"/>
                </a:tc>
                <a:tc>
                  <a:txBody>
                    <a:bodyPr/>
                    <a:lstStyle/>
                    <a:p>
                      <a:pPr indent="0" lvl="0" marL="0" rtl="0" algn="l">
                        <a:spcBef>
                          <a:spcPts val="0"/>
                        </a:spcBef>
                        <a:spcAft>
                          <a:spcPts val="0"/>
                        </a:spcAft>
                        <a:buNone/>
                      </a:pPr>
                      <a:r>
                        <a:rPr lang="en-US" sz="2000"/>
                        <a:t>Core programming language used for developing the Research Agent.</a:t>
                      </a:r>
                      <a:endParaRPr sz="2000"/>
                    </a:p>
                  </a:txBody>
                  <a:tcPr marT="91425" marB="91425" marR="91425" marL="91425"/>
                </a:tc>
              </a:tr>
              <a:tr h="458500">
                <a:tc>
                  <a:txBody>
                    <a:bodyPr/>
                    <a:lstStyle/>
                    <a:p>
                      <a:pPr indent="0" lvl="0" marL="0" rtl="0" algn="l">
                        <a:spcBef>
                          <a:spcPts val="0"/>
                        </a:spcBef>
                        <a:spcAft>
                          <a:spcPts val="0"/>
                        </a:spcAft>
                        <a:buNone/>
                      </a:pPr>
                      <a:r>
                        <a:rPr b="1" lang="en-US" sz="2000"/>
                        <a:t>IBM Cloud Lite</a:t>
                      </a:r>
                      <a:endParaRPr b="1" sz="2000"/>
                    </a:p>
                  </a:txBody>
                  <a:tcPr marT="91425" marB="91425" marR="91425" marL="91425"/>
                </a:tc>
                <a:tc>
                  <a:txBody>
                    <a:bodyPr/>
                    <a:lstStyle/>
                    <a:p>
                      <a:pPr indent="0" lvl="0" marL="0" rtl="0" algn="l">
                        <a:spcBef>
                          <a:spcPts val="0"/>
                        </a:spcBef>
                        <a:spcAft>
                          <a:spcPts val="0"/>
                        </a:spcAft>
                        <a:buNone/>
                      </a:pPr>
                      <a:r>
                        <a:rPr lang="en-US" sz="2000"/>
                        <a:t>Cloud platform used to host and manage AI services and project resources.</a:t>
                      </a:r>
                      <a:endParaRPr sz="2000"/>
                    </a:p>
                  </a:txBody>
                  <a:tcPr marT="91425" marB="91425" marR="91425" marL="91425"/>
                </a:tc>
              </a:tr>
              <a:tr h="458500">
                <a:tc>
                  <a:txBody>
                    <a:bodyPr/>
                    <a:lstStyle/>
                    <a:p>
                      <a:pPr indent="0" lvl="0" marL="0" rtl="0" algn="l">
                        <a:spcBef>
                          <a:spcPts val="0"/>
                        </a:spcBef>
                        <a:spcAft>
                          <a:spcPts val="0"/>
                        </a:spcAft>
                        <a:buNone/>
                      </a:pPr>
                      <a:r>
                        <a:rPr b="1" lang="en-US" sz="2000"/>
                        <a:t>IBM watsonx.ai Studio</a:t>
                      </a:r>
                      <a:endParaRPr b="1" sz="2000"/>
                    </a:p>
                  </a:txBody>
                  <a:tcPr marT="91425" marB="91425" marR="91425" marL="91425"/>
                </a:tc>
                <a:tc>
                  <a:txBody>
                    <a:bodyPr/>
                    <a:lstStyle/>
                    <a:p>
                      <a:pPr indent="0" lvl="0" marL="0" rtl="0" algn="l">
                        <a:spcBef>
                          <a:spcPts val="0"/>
                        </a:spcBef>
                        <a:spcAft>
                          <a:spcPts val="0"/>
                        </a:spcAft>
                        <a:buNone/>
                      </a:pPr>
                      <a:r>
                        <a:rPr lang="en-US" sz="2000"/>
                        <a:t>Used to develop, test, and integrate AI models.</a:t>
                      </a:r>
                      <a:endParaRPr sz="2000"/>
                    </a:p>
                  </a:txBody>
                  <a:tcPr marT="91425" marB="91425" marR="91425" marL="91425"/>
                </a:tc>
              </a:tr>
              <a:tr h="703325">
                <a:tc>
                  <a:txBody>
                    <a:bodyPr/>
                    <a:lstStyle/>
                    <a:p>
                      <a:pPr indent="0" lvl="0" marL="0" rtl="0" algn="l">
                        <a:spcBef>
                          <a:spcPts val="0"/>
                        </a:spcBef>
                        <a:spcAft>
                          <a:spcPts val="0"/>
                        </a:spcAft>
                        <a:buNone/>
                      </a:pPr>
                      <a:r>
                        <a:rPr b="1" lang="en-US" sz="2000"/>
                        <a:t>IBM Granite Foundation Models</a:t>
                      </a:r>
                      <a:endParaRPr b="1" sz="2000"/>
                    </a:p>
                  </a:txBody>
                  <a:tcPr marT="91425" marB="91425" marR="91425" marL="91425"/>
                </a:tc>
                <a:tc>
                  <a:txBody>
                    <a:bodyPr/>
                    <a:lstStyle/>
                    <a:p>
                      <a:pPr indent="0" lvl="0" marL="0" rtl="0" algn="l">
                        <a:spcBef>
                          <a:spcPts val="0"/>
                        </a:spcBef>
                        <a:spcAft>
                          <a:spcPts val="0"/>
                        </a:spcAft>
                        <a:buNone/>
                      </a:pPr>
                      <a:r>
                        <a:rPr lang="en-US" sz="2000"/>
                        <a:t>Used for natural language understanding, summarization, hypothesis generation, and report generation.</a:t>
                      </a:r>
                      <a:endParaRPr sz="2000"/>
                    </a:p>
                  </a:txBody>
                  <a:tcPr marT="91425" marB="91425" marR="91425" marL="91425"/>
                </a:tc>
              </a:tr>
              <a:tr h="458500">
                <a:tc>
                  <a:txBody>
                    <a:bodyPr/>
                    <a:lstStyle/>
                    <a:p>
                      <a:pPr indent="0" lvl="0" marL="0" rtl="0" algn="l">
                        <a:spcBef>
                          <a:spcPts val="0"/>
                        </a:spcBef>
                        <a:spcAft>
                          <a:spcPts val="0"/>
                        </a:spcAft>
                        <a:buNone/>
                      </a:pPr>
                      <a:r>
                        <a:rPr b="1" lang="en-US" sz="2000"/>
                        <a:t>Streamlit</a:t>
                      </a:r>
                      <a:endParaRPr b="1" sz="2000"/>
                    </a:p>
                  </a:txBody>
                  <a:tcPr marT="91425" marB="91425" marR="91425" marL="91425"/>
                </a:tc>
                <a:tc>
                  <a:txBody>
                    <a:bodyPr/>
                    <a:lstStyle/>
                    <a:p>
                      <a:pPr indent="0" lvl="0" marL="0" rtl="0" algn="l">
                        <a:spcBef>
                          <a:spcPts val="0"/>
                        </a:spcBef>
                        <a:spcAft>
                          <a:spcPts val="0"/>
                        </a:spcAft>
                        <a:buNone/>
                      </a:pPr>
                      <a:r>
                        <a:rPr lang="en-US" sz="2000"/>
                        <a:t>Builds the interactive web-based user interface.</a:t>
                      </a:r>
                      <a:endParaRPr sz="2000"/>
                    </a:p>
                  </a:txBody>
                  <a:tcPr marT="91425" marB="91425" marR="91425" marL="91425"/>
                </a:tc>
              </a:tr>
              <a:tr h="614275">
                <a:tc>
                  <a:txBody>
                    <a:bodyPr/>
                    <a:lstStyle/>
                    <a:p>
                      <a:pPr indent="0" lvl="0" marL="0" rtl="0" algn="l">
                        <a:spcBef>
                          <a:spcPts val="0"/>
                        </a:spcBef>
                        <a:spcAft>
                          <a:spcPts val="0"/>
                        </a:spcAft>
                        <a:buNone/>
                      </a:pPr>
                      <a:r>
                        <a:t/>
                      </a:r>
                      <a:endParaRPr i="1" sz="2000"/>
                    </a:p>
                  </a:txBody>
                  <a:tcPr marT="91425" marB="91425" marR="91425" marL="91425"/>
                </a:tc>
                <a:tc>
                  <a:txBody>
                    <a:bodyPr/>
                    <a:lstStyle/>
                    <a:p>
                      <a:pPr indent="0" lvl="0" marL="0" rtl="0" algn="l">
                        <a:spcBef>
                          <a:spcPts val="0"/>
                        </a:spcBef>
                        <a:spcAft>
                          <a:spcPts val="0"/>
                        </a:spcAft>
                        <a:buNone/>
                      </a:pPr>
                      <a:r>
                        <a:rPr lang="en-US" sz="2000"/>
                        <a:t>.</a:t>
                      </a:r>
                      <a:endParaRPr sz="2000"/>
                    </a:p>
                  </a:txBody>
                  <a:tcPr marT="91425" marB="91425" marR="91425" marL="91425"/>
                </a:tc>
              </a:tr>
              <a:tr h="458500">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r h="458500">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r h="458500">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458500">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r h="458500">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r h="458500">
                <a:tc>
                  <a:txBody>
                    <a:bodyPr/>
                    <a:lstStyle/>
                    <a:p>
                      <a:pPr indent="0" lvl="0" marL="0" rtl="0" algn="l">
                        <a:spcBef>
                          <a:spcPts val="0"/>
                        </a:spcBef>
                        <a:spcAft>
                          <a:spcPts val="0"/>
                        </a:spcAft>
                        <a:buNone/>
                      </a:pPr>
                      <a:r>
                        <a:t/>
                      </a:r>
                      <a:endParaRPr b="1" sz="2000"/>
                    </a:p>
                  </a:txBody>
                  <a:tcPr marT="91425" marB="91425" marR="91425" marL="91425"/>
                </a:tc>
                <a:tc>
                  <a:txBody>
                    <a:bodyPr/>
                    <a:lstStyle/>
                    <a:p>
                      <a:pPr indent="0" lvl="0" marL="0" rtl="0" algn="l">
                        <a:spcBef>
                          <a:spcPts val="0"/>
                        </a:spcBef>
                        <a:spcAft>
                          <a:spcPts val="0"/>
                        </a:spcAft>
                        <a:buNone/>
                      </a:pPr>
                      <a:r>
                        <a:t/>
                      </a:r>
                      <a:endParaRPr sz="2000"/>
                    </a:p>
                  </a:txBody>
                  <a:tcPr marT="91425" marB="91425" marR="91425" marL="91425"/>
                </a:tc>
              </a:tr>
            </a:tbl>
          </a:graphicData>
        </a:graphic>
      </p:graphicFrame>
      <p:sp>
        <p:nvSpPr>
          <p:cNvPr id="119" name="Google Shape;119;p36"/>
          <p:cNvSpPr txBox="1"/>
          <p:nvPr/>
        </p:nvSpPr>
        <p:spPr>
          <a:xfrm>
            <a:off x="1076325" y="861750"/>
            <a:ext cx="3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400"/>
              </a:spcAft>
              <a:buNone/>
            </a:pPr>
            <a:r>
              <a:t/>
            </a:r>
            <a:endParaRPr b="1"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graphicFrame>
        <p:nvGraphicFramePr>
          <p:cNvPr id="124" name="Google Shape;124;g3f7f05042c1_1_10"/>
          <p:cNvGraphicFramePr/>
          <p:nvPr/>
        </p:nvGraphicFramePr>
        <p:xfrm>
          <a:off x="549863" y="365400"/>
          <a:ext cx="3000000" cy="3000000"/>
        </p:xfrm>
        <a:graphic>
          <a:graphicData uri="http://schemas.openxmlformats.org/drawingml/2006/table">
            <a:tbl>
              <a:tblPr>
                <a:noFill/>
                <a:tableStyleId>{9A53AD15-E30B-4889-A8D1-EA8AA610C105}</a:tableStyleId>
              </a:tblPr>
              <a:tblGrid>
                <a:gridCol w="4494875"/>
                <a:gridCol w="6496950"/>
              </a:tblGrid>
              <a:tr h="614275">
                <a:tc>
                  <a:txBody>
                    <a:bodyPr/>
                    <a:lstStyle/>
                    <a:p>
                      <a:pPr indent="0" lvl="0" marL="0" rtl="0" algn="l">
                        <a:spcBef>
                          <a:spcPts val="0"/>
                        </a:spcBef>
                        <a:spcAft>
                          <a:spcPts val="0"/>
                        </a:spcAft>
                        <a:buNone/>
                      </a:pPr>
                      <a:r>
                        <a:rPr b="1" lang="en-US" sz="2000"/>
                        <a:t>OpenAI API / IBM Granite API</a:t>
                      </a:r>
                      <a:r>
                        <a:rPr lang="en-US" sz="2000"/>
                        <a:t> </a:t>
                      </a:r>
                      <a:r>
                        <a:rPr i="1" lang="en-US" sz="2000"/>
                        <a:t>(depending on your implementation)</a:t>
                      </a:r>
                      <a:endParaRPr i="1" sz="2000"/>
                    </a:p>
                  </a:txBody>
                  <a:tcPr marT="91425" marB="91425" marR="91425" marL="91425"/>
                </a:tc>
                <a:tc>
                  <a:txBody>
                    <a:bodyPr/>
                    <a:lstStyle/>
                    <a:p>
                      <a:pPr indent="0" lvl="0" marL="0" rtl="0" algn="l">
                        <a:spcBef>
                          <a:spcPts val="0"/>
                        </a:spcBef>
                        <a:spcAft>
                          <a:spcPts val="0"/>
                        </a:spcAft>
                        <a:buNone/>
                      </a:pPr>
                      <a:r>
                        <a:rPr lang="en-US" sz="2000"/>
                        <a:t>Generates AI-powered summaries, keywords, and research insights.</a:t>
                      </a:r>
                      <a:endParaRPr sz="2000"/>
                    </a:p>
                  </a:txBody>
                  <a:tcPr marT="91425" marB="91425" marR="91425" marL="91425"/>
                </a:tc>
              </a:tr>
              <a:tr h="458500">
                <a:tc>
                  <a:txBody>
                    <a:bodyPr/>
                    <a:lstStyle/>
                    <a:p>
                      <a:pPr indent="0" lvl="0" marL="0" rtl="0" algn="l">
                        <a:spcBef>
                          <a:spcPts val="0"/>
                        </a:spcBef>
                        <a:spcAft>
                          <a:spcPts val="0"/>
                        </a:spcAft>
                        <a:buNone/>
                      </a:pPr>
                      <a:r>
                        <a:rPr b="1" lang="en-US" sz="2000"/>
                        <a:t>arXiv API</a:t>
                      </a:r>
                      <a:endParaRPr b="1" sz="2000"/>
                    </a:p>
                  </a:txBody>
                  <a:tcPr marT="91425" marB="91425" marR="91425" marL="91425"/>
                </a:tc>
                <a:tc>
                  <a:txBody>
                    <a:bodyPr/>
                    <a:lstStyle/>
                    <a:p>
                      <a:pPr indent="0" lvl="0" marL="0" rtl="0" algn="l">
                        <a:spcBef>
                          <a:spcPts val="0"/>
                        </a:spcBef>
                        <a:spcAft>
                          <a:spcPts val="0"/>
                        </a:spcAft>
                        <a:buNone/>
                      </a:pPr>
                      <a:r>
                        <a:rPr lang="en-US" sz="2000"/>
                        <a:t>Retrieves research papers from the arXiv repository.</a:t>
                      </a:r>
                      <a:endParaRPr sz="2000"/>
                    </a:p>
                  </a:txBody>
                  <a:tcPr marT="91425" marB="91425" marR="91425" marL="91425"/>
                </a:tc>
              </a:tr>
              <a:tr h="458500">
                <a:tc>
                  <a:txBody>
                    <a:bodyPr/>
                    <a:lstStyle/>
                    <a:p>
                      <a:pPr indent="0" lvl="0" marL="0" rtl="0" algn="l">
                        <a:spcBef>
                          <a:spcPts val="0"/>
                        </a:spcBef>
                        <a:spcAft>
                          <a:spcPts val="0"/>
                        </a:spcAft>
                        <a:buNone/>
                      </a:pPr>
                      <a:r>
                        <a:rPr b="1" lang="en-US" sz="2000"/>
                        <a:t>CrossRef API</a:t>
                      </a:r>
                      <a:endParaRPr b="1" sz="2000"/>
                    </a:p>
                  </a:txBody>
                  <a:tcPr marT="91425" marB="91425" marR="91425" marL="91425"/>
                </a:tc>
                <a:tc>
                  <a:txBody>
                    <a:bodyPr/>
                    <a:lstStyle/>
                    <a:p>
                      <a:pPr indent="0" lvl="0" marL="0" rtl="0" algn="l">
                        <a:spcBef>
                          <a:spcPts val="0"/>
                        </a:spcBef>
                        <a:spcAft>
                          <a:spcPts val="0"/>
                        </a:spcAft>
                        <a:buNone/>
                      </a:pPr>
                      <a:r>
                        <a:rPr lang="en-US" sz="2000"/>
                        <a:t>Searches published academic articles and metadata.</a:t>
                      </a:r>
                      <a:endParaRPr sz="2000"/>
                    </a:p>
                  </a:txBody>
                  <a:tcPr marT="91425" marB="91425" marR="91425" marL="91425"/>
                </a:tc>
              </a:tr>
              <a:tr h="458500">
                <a:tc>
                  <a:txBody>
                    <a:bodyPr/>
                    <a:lstStyle/>
                    <a:p>
                      <a:pPr indent="0" lvl="0" marL="0" rtl="0" algn="l">
                        <a:spcBef>
                          <a:spcPts val="0"/>
                        </a:spcBef>
                        <a:spcAft>
                          <a:spcPts val="0"/>
                        </a:spcAft>
                        <a:buNone/>
                      </a:pPr>
                      <a:r>
                        <a:rPr b="1" lang="en-US" sz="2000"/>
                        <a:t>Europe PMC API</a:t>
                      </a:r>
                      <a:endParaRPr b="1" sz="2000"/>
                    </a:p>
                  </a:txBody>
                  <a:tcPr marT="91425" marB="91425" marR="91425" marL="91425"/>
                </a:tc>
                <a:tc>
                  <a:txBody>
                    <a:bodyPr/>
                    <a:lstStyle/>
                    <a:p>
                      <a:pPr indent="0" lvl="0" marL="0" rtl="0" algn="l">
                        <a:spcBef>
                          <a:spcPts val="0"/>
                        </a:spcBef>
                        <a:spcAft>
                          <a:spcPts val="0"/>
                        </a:spcAft>
                        <a:buNone/>
                      </a:pPr>
                      <a:r>
                        <a:rPr lang="en-US" sz="2000"/>
                        <a:t>Retrieves biomedical and life science research papers.</a:t>
                      </a:r>
                      <a:endParaRPr sz="2000"/>
                    </a:p>
                  </a:txBody>
                  <a:tcPr marT="91425" marB="91425" marR="91425" marL="91425"/>
                </a:tc>
              </a:tr>
              <a:tr h="458500">
                <a:tc>
                  <a:txBody>
                    <a:bodyPr/>
                    <a:lstStyle/>
                    <a:p>
                      <a:pPr indent="0" lvl="0" marL="0" rtl="0" algn="l">
                        <a:spcBef>
                          <a:spcPts val="0"/>
                        </a:spcBef>
                        <a:spcAft>
                          <a:spcPts val="0"/>
                        </a:spcAft>
                        <a:buNone/>
                      </a:pPr>
                      <a:r>
                        <a:rPr b="1" lang="en-US" sz="2000"/>
                        <a:t>Semantic Scholar API</a:t>
                      </a:r>
                      <a:endParaRPr b="1" sz="2000"/>
                    </a:p>
                  </a:txBody>
                  <a:tcPr marT="91425" marB="91425" marR="91425" marL="91425"/>
                </a:tc>
                <a:tc>
                  <a:txBody>
                    <a:bodyPr/>
                    <a:lstStyle/>
                    <a:p>
                      <a:pPr indent="0" lvl="0" marL="0" rtl="0" algn="l">
                        <a:spcBef>
                          <a:spcPts val="0"/>
                        </a:spcBef>
                        <a:spcAft>
                          <a:spcPts val="0"/>
                        </a:spcAft>
                        <a:buNone/>
                      </a:pPr>
                      <a:r>
                        <a:rPr lang="en-US" sz="2000"/>
                        <a:t>Provides research paper search and citation information.</a:t>
                      </a:r>
                      <a:endParaRPr sz="2000"/>
                    </a:p>
                  </a:txBody>
                  <a:tcPr marT="91425" marB="91425" marR="91425" marL="91425"/>
                </a:tc>
              </a:tr>
              <a:tr h="458500">
                <a:tc>
                  <a:txBody>
                    <a:bodyPr/>
                    <a:lstStyle/>
                    <a:p>
                      <a:pPr indent="0" lvl="0" marL="0" rtl="0" algn="l">
                        <a:spcBef>
                          <a:spcPts val="0"/>
                        </a:spcBef>
                        <a:spcAft>
                          <a:spcPts val="0"/>
                        </a:spcAft>
                        <a:buNone/>
                      </a:pPr>
                      <a:r>
                        <a:rPr b="1" lang="en-US" sz="2000"/>
                        <a:t>Git &amp; GitHub</a:t>
                      </a:r>
                      <a:endParaRPr b="1" sz="2000"/>
                    </a:p>
                  </a:txBody>
                  <a:tcPr marT="91425" marB="91425" marR="91425" marL="91425"/>
                </a:tc>
                <a:tc>
                  <a:txBody>
                    <a:bodyPr/>
                    <a:lstStyle/>
                    <a:p>
                      <a:pPr indent="0" lvl="0" marL="0" rtl="0" algn="l">
                        <a:spcBef>
                          <a:spcPts val="0"/>
                        </a:spcBef>
                        <a:spcAft>
                          <a:spcPts val="0"/>
                        </a:spcAft>
                        <a:buNone/>
                      </a:pPr>
                      <a:r>
                        <a:rPr lang="en-US" sz="2000"/>
                        <a:t>Version control and project hosting.</a:t>
                      </a:r>
                      <a:endParaRPr sz="2000"/>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Langflow</a:t>
            </a: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00000"/>
                </a:solidFill>
                <a:latin typeface="Arial"/>
                <a:ea typeface="Arial"/>
                <a:cs typeface="Arial"/>
                <a:sym typeface="Arial"/>
              </a:rPr>
              <a:t>component Used -</a:t>
            </a:r>
            <a:endParaRPr b="1" i="0" sz="2400" u="none" cap="none" strike="noStrike">
              <a:solidFill>
                <a:srgbClr val="000000"/>
              </a:solidFill>
              <a:latin typeface="Arial"/>
              <a:ea typeface="Arial"/>
              <a:cs typeface="Arial"/>
              <a:sym typeface="Arial"/>
            </a:endParaRPr>
          </a:p>
        </p:txBody>
      </p:sp>
      <p:sp>
        <p:nvSpPr>
          <p:cNvPr id="130" name="Google Shape;130;p3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31" name="Google Shape;131;p3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32" name="Google Shape;132;p3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33" name="Google Shape;133;p3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34" name="Google Shape;134;p3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35" name="Google Shape;135;p3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36" name="Google Shape;136;p37"/>
          <p:cNvSpPr txBox="1"/>
          <p:nvPr/>
        </p:nvSpPr>
        <p:spPr>
          <a:xfrm>
            <a:off x="474822" y="863187"/>
            <a:ext cx="8823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37" name="Google Shape;137;p37"/>
          <p:cNvSpPr txBox="1"/>
          <p:nvPr/>
        </p:nvSpPr>
        <p:spPr>
          <a:xfrm>
            <a:off x="312900" y="1028700"/>
            <a:ext cx="11745900" cy="5982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1200"/>
              </a:spcBef>
              <a:spcAft>
                <a:spcPts val="0"/>
              </a:spcAft>
              <a:buClr>
                <a:schemeClr val="dk1"/>
              </a:buClr>
              <a:buSzPts val="2000"/>
              <a:buAutoNum type="arabicPeriod"/>
            </a:pPr>
            <a:r>
              <a:rPr b="1" lang="en-US" sz="2000">
                <a:solidFill>
                  <a:schemeClr val="dk1"/>
                </a:solidFill>
              </a:rPr>
              <a:t>Chat Input</a:t>
            </a:r>
            <a:endParaRPr b="1"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Accepts the user's research query.</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US" sz="2000">
                <a:solidFill>
                  <a:schemeClr val="dk1"/>
                </a:solidFill>
              </a:rPr>
              <a:t>Prompt Template</a:t>
            </a:r>
            <a:endParaRPr b="1"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Formats the user's query for IBM Granite.</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US" sz="2000">
                <a:solidFill>
                  <a:schemeClr val="dk1"/>
                </a:solidFill>
              </a:rPr>
              <a:t>IBM Granite Model (LLM)</a:t>
            </a:r>
            <a:endParaRPr b="1"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Extracts keywords.</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Summarizes research papers.</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Generates hypotheses.</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Creates report sections.</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US" sz="2000">
                <a:solidFill>
                  <a:schemeClr val="dk1"/>
                </a:solidFill>
              </a:rPr>
              <a:t>API Request / HTTP Request Components</a:t>
            </a:r>
            <a:endParaRPr b="1"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Connects to:</a:t>
            </a:r>
            <a:endParaRPr sz="2000">
              <a:solidFill>
                <a:schemeClr val="dk1"/>
              </a:solidFill>
            </a:endParaRPr>
          </a:p>
          <a:p>
            <a:pPr indent="-355600" lvl="2" marL="1371600" rtl="0" algn="l">
              <a:lnSpc>
                <a:spcPct val="115000"/>
              </a:lnSpc>
              <a:spcBef>
                <a:spcPts val="0"/>
              </a:spcBef>
              <a:spcAft>
                <a:spcPts val="0"/>
              </a:spcAft>
              <a:buClr>
                <a:schemeClr val="dk1"/>
              </a:buClr>
              <a:buSzPts val="2000"/>
              <a:buChar char="■"/>
            </a:pPr>
            <a:r>
              <a:rPr lang="en-US" sz="2000">
                <a:solidFill>
                  <a:schemeClr val="dk1"/>
                </a:solidFill>
              </a:rPr>
              <a:t>arXiv API</a:t>
            </a:r>
            <a:endParaRPr sz="2000">
              <a:solidFill>
                <a:schemeClr val="dk1"/>
              </a:solidFill>
            </a:endParaRPr>
          </a:p>
          <a:p>
            <a:pPr indent="-355600" lvl="2" marL="1371600" rtl="0" algn="l">
              <a:lnSpc>
                <a:spcPct val="115000"/>
              </a:lnSpc>
              <a:spcBef>
                <a:spcPts val="0"/>
              </a:spcBef>
              <a:spcAft>
                <a:spcPts val="0"/>
              </a:spcAft>
              <a:buClr>
                <a:schemeClr val="dk1"/>
              </a:buClr>
              <a:buSzPts val="2000"/>
              <a:buChar char="■"/>
            </a:pPr>
            <a:r>
              <a:rPr lang="en-US" sz="2000">
                <a:solidFill>
                  <a:schemeClr val="dk1"/>
                </a:solidFill>
              </a:rPr>
              <a:t>CrossRef API</a:t>
            </a:r>
            <a:endParaRPr sz="2000">
              <a:solidFill>
                <a:schemeClr val="dk1"/>
              </a:solidFill>
            </a:endParaRPr>
          </a:p>
          <a:p>
            <a:pPr indent="-355600" lvl="2" marL="1371600" rtl="0" algn="l">
              <a:lnSpc>
                <a:spcPct val="115000"/>
              </a:lnSpc>
              <a:spcBef>
                <a:spcPts val="0"/>
              </a:spcBef>
              <a:spcAft>
                <a:spcPts val="0"/>
              </a:spcAft>
              <a:buClr>
                <a:schemeClr val="dk1"/>
              </a:buClr>
              <a:buSzPts val="2000"/>
              <a:buChar char="■"/>
            </a:pPr>
            <a:r>
              <a:rPr lang="en-US" sz="2000">
                <a:solidFill>
                  <a:schemeClr val="dk1"/>
                </a:solidFill>
              </a:rPr>
              <a:t>Europe PMC API</a:t>
            </a:r>
            <a:endParaRPr sz="2000">
              <a:solidFill>
                <a:schemeClr val="dk1"/>
              </a:solidFill>
            </a:endParaRPr>
          </a:p>
          <a:p>
            <a:pPr indent="-355600" lvl="2" marL="1371600" rtl="0" algn="l">
              <a:lnSpc>
                <a:spcPct val="115000"/>
              </a:lnSpc>
              <a:spcBef>
                <a:spcPts val="0"/>
              </a:spcBef>
              <a:spcAft>
                <a:spcPts val="0"/>
              </a:spcAft>
              <a:buClr>
                <a:schemeClr val="dk1"/>
              </a:buClr>
              <a:buSzPts val="2000"/>
              <a:buChar char="■"/>
            </a:pPr>
            <a:r>
              <a:rPr lang="en-US" sz="2000">
                <a:solidFill>
                  <a:schemeClr val="dk1"/>
                </a:solidFill>
              </a:rPr>
              <a:t>Semantic Scholar </a:t>
            </a:r>
            <a:r>
              <a:rPr lang="en-US" sz="2000">
                <a:solidFill>
                  <a:schemeClr val="dk1"/>
                </a:solidFill>
              </a:rPr>
              <a:t>API</a:t>
            </a:r>
            <a:endParaRPr sz="2000">
              <a:solidFill>
                <a:schemeClr val="dk1"/>
              </a:solidFill>
            </a:endParaRPr>
          </a:p>
          <a:p>
            <a:pPr indent="0" lvl="0" marL="0" rtl="0" algn="l">
              <a:lnSpc>
                <a:spcPct val="115000"/>
              </a:lnSpc>
              <a:spcBef>
                <a:spcPts val="1400"/>
              </a:spcBef>
              <a:spcAft>
                <a:spcPts val="400"/>
              </a:spcAft>
              <a:buNone/>
            </a:pPr>
            <a:r>
              <a:t/>
            </a:r>
            <a:endParaRPr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f7f05042c1_1_17"/>
          <p:cNvSpPr txBox="1"/>
          <p:nvPr/>
        </p:nvSpPr>
        <p:spPr>
          <a:xfrm>
            <a:off x="342900" y="0"/>
            <a:ext cx="11239500" cy="70599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b="1" lang="en-US" sz="2000">
                <a:solidFill>
                  <a:schemeClr val="dk1"/>
                </a:solidFill>
              </a:rPr>
              <a:t>5.</a:t>
            </a:r>
            <a:r>
              <a:rPr b="1" lang="en-US" sz="2000">
                <a:solidFill>
                  <a:schemeClr val="dk1"/>
                </a:solidFill>
              </a:rPr>
              <a:t>Text Splitter (Optional):</a:t>
            </a:r>
            <a:r>
              <a:rPr lang="en-US" sz="2000">
                <a:solidFill>
                  <a:schemeClr val="dk1"/>
                </a:solidFill>
              </a:rPr>
              <a:t>Splits long abstracts before sending them to the LLM.</a:t>
            </a:r>
            <a:endParaRPr sz="2000">
              <a:solidFill>
                <a:schemeClr val="dk1"/>
              </a:solidFill>
            </a:endParaRPr>
          </a:p>
          <a:p>
            <a:pPr indent="0" lvl="0" marL="457200" rtl="0" algn="l">
              <a:lnSpc>
                <a:spcPct val="115000"/>
              </a:lnSpc>
              <a:spcBef>
                <a:spcPts val="1200"/>
              </a:spcBef>
              <a:spcAft>
                <a:spcPts val="0"/>
              </a:spcAft>
              <a:buNone/>
            </a:pPr>
            <a:r>
              <a:rPr b="1" lang="en-US" sz="2000">
                <a:solidFill>
                  <a:schemeClr val="dk1"/>
                </a:solidFill>
              </a:rPr>
              <a:t>6.</a:t>
            </a:r>
            <a:r>
              <a:rPr b="1" lang="en-US" sz="2000">
                <a:solidFill>
                  <a:schemeClr val="dk1"/>
                </a:solidFill>
              </a:rPr>
              <a:t>Parser / Output Parser:</a:t>
            </a:r>
            <a:r>
              <a:rPr lang="en-US" sz="2000">
                <a:solidFill>
                  <a:schemeClr val="dk1"/>
                </a:solidFill>
              </a:rPr>
              <a:t>Extracts keywords and formats the LLM response.</a:t>
            </a:r>
            <a:endParaRPr sz="2000">
              <a:solidFill>
                <a:schemeClr val="dk1"/>
              </a:solidFill>
            </a:endParaRPr>
          </a:p>
          <a:p>
            <a:pPr indent="0" lvl="0" marL="457200" rtl="0" algn="l">
              <a:lnSpc>
                <a:spcPct val="115000"/>
              </a:lnSpc>
              <a:spcBef>
                <a:spcPts val="1200"/>
              </a:spcBef>
              <a:spcAft>
                <a:spcPts val="0"/>
              </a:spcAft>
              <a:buNone/>
            </a:pPr>
            <a:r>
              <a:rPr b="1" lang="en-US" sz="2000">
                <a:solidFill>
                  <a:schemeClr val="dk1"/>
                </a:solidFill>
              </a:rPr>
              <a:t>7.</a:t>
            </a:r>
            <a:r>
              <a:rPr b="1" lang="en-US" sz="2000">
                <a:solidFill>
                  <a:schemeClr val="dk1"/>
                </a:solidFill>
              </a:rPr>
              <a:t>Python Function Component:</a:t>
            </a:r>
            <a:r>
              <a:rPr lang="en-US" sz="2000">
                <a:solidFill>
                  <a:schemeClr val="dk1"/>
                </a:solidFill>
              </a:rPr>
              <a:t>Deduplicates papers.</a:t>
            </a:r>
            <a:endParaRPr sz="2000">
              <a:solidFill>
                <a:schemeClr val="dk1"/>
              </a:solidFill>
            </a:endParaRPr>
          </a:p>
          <a:p>
            <a:pPr indent="-355600" lvl="1" marL="914400" rtl="0" algn="l">
              <a:lnSpc>
                <a:spcPct val="115000"/>
              </a:lnSpc>
              <a:spcBef>
                <a:spcPts val="1200"/>
              </a:spcBef>
              <a:spcAft>
                <a:spcPts val="0"/>
              </a:spcAft>
              <a:buClr>
                <a:schemeClr val="dk1"/>
              </a:buClr>
              <a:buSzPts val="2000"/>
              <a:buChar char="○"/>
            </a:pPr>
            <a:r>
              <a:rPr lang="en-US" sz="2000">
                <a:solidFill>
                  <a:schemeClr val="dk1"/>
                </a:solidFill>
              </a:rPr>
              <a:t>Sorts by citations.</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Organizes references.</a:t>
            </a:r>
            <a:endParaRPr sz="2000">
              <a:solidFill>
                <a:schemeClr val="dk1"/>
              </a:solidFill>
            </a:endParaRPr>
          </a:p>
          <a:p>
            <a:pPr indent="-355600" lvl="1" marL="914400" rtl="0" algn="l">
              <a:lnSpc>
                <a:spcPct val="115000"/>
              </a:lnSpc>
              <a:spcBef>
                <a:spcPts val="0"/>
              </a:spcBef>
              <a:spcAft>
                <a:spcPts val="0"/>
              </a:spcAft>
              <a:buClr>
                <a:schemeClr val="dk1"/>
              </a:buClr>
              <a:buSzPts val="2000"/>
              <a:buChar char="○"/>
            </a:pPr>
            <a:r>
              <a:rPr lang="en-US" sz="2000">
                <a:solidFill>
                  <a:schemeClr val="dk1"/>
                </a:solidFill>
              </a:rPr>
              <a:t>Builds the report.</a:t>
            </a:r>
            <a:endParaRPr sz="2000">
              <a:solidFill>
                <a:schemeClr val="dk1"/>
              </a:solidFill>
            </a:endParaRPr>
          </a:p>
          <a:p>
            <a:pPr indent="0" lvl="0" marL="457200" rtl="0" algn="l">
              <a:lnSpc>
                <a:spcPct val="115000"/>
              </a:lnSpc>
              <a:spcBef>
                <a:spcPts val="1200"/>
              </a:spcBef>
              <a:spcAft>
                <a:spcPts val="0"/>
              </a:spcAft>
              <a:buNone/>
            </a:pPr>
            <a:r>
              <a:rPr b="1" lang="en-US" sz="2000">
                <a:solidFill>
                  <a:schemeClr val="dk1"/>
                </a:solidFill>
              </a:rPr>
              <a:t>8.</a:t>
            </a:r>
            <a:r>
              <a:rPr b="1" lang="en-US" sz="2000">
                <a:solidFill>
                  <a:schemeClr val="dk1"/>
                </a:solidFill>
              </a:rPr>
              <a:t>Report Generator</a:t>
            </a:r>
            <a:endParaRPr b="1" sz="2000">
              <a:solidFill>
                <a:schemeClr val="dk1"/>
              </a:solidFill>
            </a:endParaRPr>
          </a:p>
          <a:p>
            <a:pPr indent="-355600" lvl="1" marL="914400" rtl="0" algn="l">
              <a:lnSpc>
                <a:spcPct val="115000"/>
              </a:lnSpc>
              <a:spcBef>
                <a:spcPts val="1200"/>
              </a:spcBef>
              <a:spcAft>
                <a:spcPts val="0"/>
              </a:spcAft>
              <a:buClr>
                <a:schemeClr val="dk1"/>
              </a:buClr>
              <a:buSzPts val="2000"/>
              <a:buChar char="○"/>
            </a:pPr>
            <a:r>
              <a:rPr lang="en-US" sz="2000">
                <a:solidFill>
                  <a:schemeClr val="dk1"/>
                </a:solidFill>
              </a:rPr>
              <a:t>Compiles the introduction, literature review, hypotheses, conclusion, and references.</a:t>
            </a:r>
            <a:endParaRPr sz="2000">
              <a:solidFill>
                <a:schemeClr val="dk1"/>
              </a:solidFill>
            </a:endParaRPr>
          </a:p>
          <a:p>
            <a:pPr indent="0" lvl="0" marL="457200" rtl="0" algn="l">
              <a:lnSpc>
                <a:spcPct val="115000"/>
              </a:lnSpc>
              <a:spcBef>
                <a:spcPts val="1200"/>
              </a:spcBef>
              <a:spcAft>
                <a:spcPts val="0"/>
              </a:spcAft>
              <a:buNone/>
            </a:pPr>
            <a:r>
              <a:rPr b="1" lang="en-US" sz="2000">
                <a:solidFill>
                  <a:schemeClr val="dk1"/>
                </a:solidFill>
              </a:rPr>
              <a:t>9.</a:t>
            </a:r>
            <a:r>
              <a:rPr b="1" lang="en-US" sz="2000">
                <a:solidFill>
                  <a:schemeClr val="dk1"/>
                </a:solidFill>
              </a:rPr>
              <a:t>Streamlit Output</a:t>
            </a:r>
            <a:endParaRPr b="1" sz="2000">
              <a:solidFill>
                <a:schemeClr val="dk1"/>
              </a:solidFill>
            </a:endParaRPr>
          </a:p>
          <a:p>
            <a:pPr indent="-355600" lvl="1" marL="914400" rtl="0" algn="l">
              <a:lnSpc>
                <a:spcPct val="115000"/>
              </a:lnSpc>
              <a:spcBef>
                <a:spcPts val="1200"/>
              </a:spcBef>
              <a:spcAft>
                <a:spcPts val="0"/>
              </a:spcAft>
              <a:buClr>
                <a:schemeClr val="dk1"/>
              </a:buClr>
              <a:buSzPts val="2000"/>
              <a:buChar char="○"/>
            </a:pPr>
            <a:r>
              <a:rPr lang="en-US" sz="2000">
                <a:solidFill>
                  <a:schemeClr val="dk1"/>
                </a:solidFill>
              </a:rPr>
              <a:t>Displays:</a:t>
            </a:r>
            <a:endParaRPr sz="2000">
              <a:solidFill>
                <a:schemeClr val="dk1"/>
              </a:solidFill>
            </a:endParaRPr>
          </a:p>
          <a:p>
            <a:pPr indent="-355600" lvl="2" marL="1371600" rtl="0" algn="l">
              <a:lnSpc>
                <a:spcPct val="115000"/>
              </a:lnSpc>
              <a:spcBef>
                <a:spcPts val="0"/>
              </a:spcBef>
              <a:spcAft>
                <a:spcPts val="0"/>
              </a:spcAft>
              <a:buClr>
                <a:schemeClr val="dk1"/>
              </a:buClr>
              <a:buSzPts val="2000"/>
              <a:buChar char="■"/>
            </a:pPr>
            <a:r>
              <a:rPr lang="en-US" sz="2000">
                <a:solidFill>
                  <a:schemeClr val="dk1"/>
                </a:solidFill>
              </a:rPr>
              <a:t>Retrieved papers</a:t>
            </a:r>
            <a:endParaRPr sz="2000">
              <a:solidFill>
                <a:schemeClr val="dk1"/>
              </a:solidFill>
            </a:endParaRPr>
          </a:p>
          <a:p>
            <a:pPr indent="-355600" lvl="2" marL="1371600" rtl="0" algn="l">
              <a:lnSpc>
                <a:spcPct val="115000"/>
              </a:lnSpc>
              <a:spcBef>
                <a:spcPts val="0"/>
              </a:spcBef>
              <a:spcAft>
                <a:spcPts val="0"/>
              </a:spcAft>
              <a:buClr>
                <a:schemeClr val="dk1"/>
              </a:buClr>
              <a:buSzPts val="2000"/>
              <a:buChar char="■"/>
            </a:pPr>
            <a:r>
              <a:rPr lang="en-US" sz="2000">
                <a:solidFill>
                  <a:schemeClr val="dk1"/>
                </a:solidFill>
              </a:rPr>
              <a:t>AI summaries</a:t>
            </a:r>
            <a:endParaRPr sz="2000">
              <a:solidFill>
                <a:schemeClr val="dk1"/>
              </a:solidFill>
            </a:endParaRPr>
          </a:p>
          <a:p>
            <a:pPr indent="-355600" lvl="2" marL="1371600" rtl="0" algn="l">
              <a:lnSpc>
                <a:spcPct val="115000"/>
              </a:lnSpc>
              <a:spcBef>
                <a:spcPts val="0"/>
              </a:spcBef>
              <a:spcAft>
                <a:spcPts val="0"/>
              </a:spcAft>
              <a:buClr>
                <a:schemeClr val="dk1"/>
              </a:buClr>
              <a:buSzPts val="2000"/>
              <a:buChar char="■"/>
            </a:pPr>
            <a:r>
              <a:rPr lang="en-US" sz="2000">
                <a:solidFill>
                  <a:schemeClr val="dk1"/>
                </a:solidFill>
              </a:rPr>
              <a:t>Hypotheses</a:t>
            </a:r>
            <a:endParaRPr sz="2000">
              <a:solidFill>
                <a:schemeClr val="dk1"/>
              </a:solidFill>
            </a:endParaRPr>
          </a:p>
          <a:p>
            <a:pPr indent="-355600" lvl="2" marL="1371600" rtl="0" algn="l">
              <a:lnSpc>
                <a:spcPct val="115000"/>
              </a:lnSpc>
              <a:spcBef>
                <a:spcPts val="0"/>
              </a:spcBef>
              <a:spcAft>
                <a:spcPts val="0"/>
              </a:spcAft>
              <a:buClr>
                <a:schemeClr val="dk1"/>
              </a:buClr>
              <a:buSzPts val="2000"/>
              <a:buChar char="■"/>
            </a:pPr>
            <a:r>
              <a:rPr lang="en-US" sz="2000">
                <a:solidFill>
                  <a:schemeClr val="dk1"/>
                </a:solidFill>
              </a:rPr>
              <a:t>References</a:t>
            </a:r>
            <a:endParaRPr sz="2000">
              <a:solidFill>
                <a:schemeClr val="dk1"/>
              </a:solidFill>
            </a:endParaRPr>
          </a:p>
          <a:p>
            <a:pPr indent="-355600" lvl="2" marL="1371600" rtl="0" algn="l">
              <a:lnSpc>
                <a:spcPct val="115000"/>
              </a:lnSpc>
              <a:spcBef>
                <a:spcPts val="0"/>
              </a:spcBef>
              <a:spcAft>
                <a:spcPts val="0"/>
              </a:spcAft>
              <a:buClr>
                <a:schemeClr val="dk1"/>
              </a:buClr>
              <a:buSzPts val="2000"/>
              <a:buChar char="■"/>
            </a:pPr>
            <a:r>
              <a:rPr lang="en-US" sz="2000">
                <a:solidFill>
                  <a:schemeClr val="dk1"/>
                </a:solidFill>
              </a:rPr>
              <a:t>Download options (Markdown/JSON)</a:t>
            </a:r>
            <a:endParaRPr sz="2000">
              <a:solidFill>
                <a:schemeClr val="dk1"/>
              </a:solidFill>
            </a:endParaRPr>
          </a:p>
          <a:p>
            <a:pPr indent="0" lvl="0" marL="0" rtl="0" algn="l">
              <a:lnSpc>
                <a:spcPct val="115000"/>
              </a:lnSpc>
              <a:spcBef>
                <a:spcPts val="1400"/>
              </a:spcBef>
              <a:spcAft>
                <a:spcPts val="400"/>
              </a:spcAft>
              <a:buNone/>
            </a:pPr>
            <a:r>
              <a:t/>
            </a:r>
            <a:endParaRPr sz="2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Langflow</a:t>
            </a: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00000"/>
                </a:solidFill>
                <a:latin typeface="Arial"/>
                <a:ea typeface="Arial"/>
                <a:cs typeface="Arial"/>
                <a:sym typeface="Arial"/>
              </a:rPr>
              <a:t>workflow -</a:t>
            </a:r>
            <a:endParaRPr b="1" i="0" sz="2400" u="none" cap="none" strike="noStrike">
              <a:solidFill>
                <a:srgbClr val="000000"/>
              </a:solidFill>
              <a:latin typeface="Arial"/>
              <a:ea typeface="Arial"/>
              <a:cs typeface="Arial"/>
              <a:sym typeface="Arial"/>
            </a:endParaRPr>
          </a:p>
        </p:txBody>
      </p:sp>
      <p:pic>
        <p:nvPicPr>
          <p:cNvPr id="148" name="Google Shape;148;p38" title="file_00000000f2b0722f82c00f43a1583580.png"/>
          <p:cNvPicPr preferRelativeResize="0"/>
          <p:nvPr/>
        </p:nvPicPr>
        <p:blipFill>
          <a:blip r:embed="rId3">
            <a:alphaModFix/>
          </a:blip>
          <a:stretch>
            <a:fillRect/>
          </a:stretch>
        </p:blipFill>
        <p:spPr>
          <a:xfrm>
            <a:off x="257200" y="965200"/>
            <a:ext cx="11144248" cy="5892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Architecture blueprint</a:t>
            </a:r>
            <a:endParaRPr b="0" i="0" sz="2400" u="none" cap="none" strike="noStrike">
              <a:solidFill>
                <a:srgbClr val="000000"/>
              </a:solidFill>
              <a:latin typeface="Arial"/>
              <a:ea typeface="Arial"/>
              <a:cs typeface="Arial"/>
              <a:sym typeface="Arial"/>
            </a:endParaRPr>
          </a:p>
        </p:txBody>
      </p:sp>
      <p:pic>
        <p:nvPicPr>
          <p:cNvPr id="154" name="Google Shape;154;p7" title="file_00000000b004720c98c2e8b79414ef29.png"/>
          <p:cNvPicPr preferRelativeResize="0"/>
          <p:nvPr/>
        </p:nvPicPr>
        <p:blipFill>
          <a:blip r:embed="rId3">
            <a:alphaModFix/>
          </a:blip>
          <a:stretch>
            <a:fillRect/>
          </a:stretch>
        </p:blipFill>
        <p:spPr>
          <a:xfrm>
            <a:off x="407200" y="771750"/>
            <a:ext cx="10832298" cy="60862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9"/>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60" name="Google Shape;160;p9"/>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61" name="Google Shape;161;p9"/>
          <p:cNvSpPr txBox="1"/>
          <p:nvPr/>
        </p:nvSpPr>
        <p:spPr>
          <a:xfrm>
            <a:off x="621792" y="1167493"/>
            <a:ext cx="7406700" cy="6018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2000"/>
              <a:t>Agentic AI serves as the intelligent decision-making component of the Research Agent. Instead of simply responding to user queries, it autonomously coordinates multiple research tasks such as understanding the research topic, selecting appropriate academic databases, retrieving relevant papers, summarizing key findings, generating research hypotheses, organizing citations, and compiling a structured research report.</a:t>
            </a:r>
            <a:endParaRPr b="1" sz="2000"/>
          </a:p>
          <a:p>
            <a:pPr indent="0" lvl="0" marL="0" rtl="0" algn="l">
              <a:lnSpc>
                <a:spcPct val="115000"/>
              </a:lnSpc>
              <a:spcBef>
                <a:spcPts val="1200"/>
              </a:spcBef>
              <a:spcAft>
                <a:spcPts val="0"/>
              </a:spcAft>
              <a:buClr>
                <a:schemeClr val="dk1"/>
              </a:buClr>
              <a:buSzPts val="1100"/>
              <a:buFont typeface="Arial"/>
              <a:buNone/>
            </a:pPr>
            <a:r>
              <a:rPr b="1" lang="en-US" sz="2000"/>
              <a:t>IBM Granite models, deployed through IBM watsonx.ai, provide the reasoning and language understanding capabilities required for these tasks. The agent dynamically processes user input, retrieves the most relevant information from sources such as arXiv, CrossRef, Europe PMC, and Semantic Scholar, and transforms the collected knowledge into meaningful insights.</a:t>
            </a:r>
            <a:endParaRPr b="1" sz="2000"/>
          </a:p>
          <a:p>
            <a:pPr indent="0" lvl="0" marL="0" marR="0" rtl="0" algn="l">
              <a:lnSpc>
                <a:spcPct val="100000"/>
              </a:lnSpc>
              <a:spcBef>
                <a:spcPts val="1200"/>
              </a:spcBef>
              <a:spcAft>
                <a:spcPts val="0"/>
              </a:spcAft>
              <a:buNone/>
            </a:pPr>
            <a:r>
              <a:t/>
            </a:r>
            <a:endParaRPr b="1"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f7f05042c1_3_2"/>
          <p:cNvSpPr txBox="1"/>
          <p:nvPr/>
        </p:nvSpPr>
        <p:spPr>
          <a:xfrm>
            <a:off x="1040700" y="353000"/>
            <a:ext cx="10110600" cy="206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dk1"/>
                </a:solidFill>
              </a:rPr>
              <a:t>By automating the complete research workflow, Agentic AI reduces manual effort, improves the quality and accuracy of literature reviews, supports evidence-based research, and significantly accelerates academic and industrial research activities.</a:t>
            </a:r>
            <a:endParaRPr b="1" sz="2000">
              <a:solidFill>
                <a:schemeClr val="dk1"/>
              </a:solidFill>
            </a:endParaRPr>
          </a:p>
          <a:p>
            <a:pPr indent="0" lvl="0" marL="0" rtl="0" algn="l">
              <a:spcBef>
                <a:spcPts val="1200"/>
              </a:spcBef>
              <a:spcAft>
                <a:spcPts val="0"/>
              </a:spcAft>
              <a:buNone/>
            </a:pPr>
            <a:r>
              <a:t/>
            </a:r>
            <a:endParaRPr b="1" sz="20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40"/>
          <p:cNvSpPr txBox="1"/>
          <p:nvPr/>
        </p:nvSpPr>
        <p:spPr>
          <a:xfrm>
            <a:off x="777240" y="484632"/>
            <a:ext cx="7123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Novelty and Uniqueness</a:t>
            </a:r>
            <a:endParaRPr b="1" i="0" sz="2800" u="none" cap="none" strike="noStrike">
              <a:solidFill>
                <a:srgbClr val="000000"/>
              </a:solidFill>
              <a:latin typeface="Arial"/>
              <a:ea typeface="Arial"/>
              <a:cs typeface="Arial"/>
              <a:sym typeface="Arial"/>
            </a:endParaRPr>
          </a:p>
        </p:txBody>
      </p:sp>
      <p:sp>
        <p:nvSpPr>
          <p:cNvPr id="172" name="Google Shape;172;p40"/>
          <p:cNvSpPr txBox="1"/>
          <p:nvPr/>
        </p:nvSpPr>
        <p:spPr>
          <a:xfrm>
            <a:off x="777240" y="1207008"/>
            <a:ext cx="11301900" cy="4248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rPr>
              <a:t>The proposed </a:t>
            </a:r>
            <a:r>
              <a:rPr b="1" lang="en-US" sz="2000">
                <a:solidFill>
                  <a:schemeClr val="dk1"/>
                </a:solidFill>
              </a:rPr>
              <a:t>Research Agent</a:t>
            </a:r>
            <a:r>
              <a:rPr lang="en-US" sz="2000">
                <a:solidFill>
                  <a:schemeClr val="dk1"/>
                </a:solidFill>
              </a:rPr>
              <a:t> introduces an intelligent AI-driven research assistant that automates the complete academic research workflow, from literature retrieval to report generation. Unlike conventional search engines that only provide a list of research papers, this system understands the user's research intent, retrieves relevant literature from multiple trusted academic sources, summarizes the findings, identifies research gaps, generates novel hypotheses, manages citations, and compiles a structured research report.</a:t>
            </a:r>
            <a:endParaRPr sz="2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rPr>
              <a:t>The integration of </a:t>
            </a:r>
            <a:r>
              <a:rPr b="1" lang="en-US" sz="2000">
                <a:solidFill>
                  <a:schemeClr val="dk1"/>
                </a:solidFill>
              </a:rPr>
              <a:t>IBM Granite Large Language Models</a:t>
            </a:r>
            <a:r>
              <a:rPr lang="en-US" sz="2000">
                <a:solidFill>
                  <a:schemeClr val="dk1"/>
                </a:solidFill>
              </a:rPr>
              <a:t> through </a:t>
            </a:r>
            <a:r>
              <a:rPr b="1" lang="en-US" sz="2000">
                <a:solidFill>
                  <a:schemeClr val="dk1"/>
                </a:solidFill>
              </a:rPr>
              <a:t>IBM watsonx.ai</a:t>
            </a:r>
            <a:r>
              <a:rPr lang="en-US" sz="2000">
                <a:solidFill>
                  <a:schemeClr val="dk1"/>
                </a:solidFill>
              </a:rPr>
              <a:t> enhances the system's reasoning, summarization, and report-writing capabilities. By incorporating </a:t>
            </a:r>
            <a:r>
              <a:rPr b="1" lang="en-US" sz="2000">
                <a:solidFill>
                  <a:schemeClr val="dk1"/>
                </a:solidFill>
              </a:rPr>
              <a:t>Agentic AI</a:t>
            </a:r>
            <a:r>
              <a:rPr lang="en-US" sz="2000">
                <a:solidFill>
                  <a:schemeClr val="dk1"/>
                </a:solidFill>
              </a:rPr>
              <a:t>, the Research Agent autonomously performs multiple interconnected research tasks with minimal human intervention, making the research process faster, more efficient, and highly intelligent.</a:t>
            </a:r>
            <a:endParaRPr sz="2000">
              <a:solidFill>
                <a:schemeClr val="dk1"/>
              </a:solidFill>
            </a:endParaRPr>
          </a:p>
          <a:p>
            <a:pPr indent="0" lvl="0" marL="0" marR="0" rtl="0" algn="l">
              <a:lnSpc>
                <a:spcPct val="100000"/>
              </a:lnSpc>
              <a:spcBef>
                <a:spcPts val="1200"/>
              </a:spcBef>
              <a:spcAft>
                <a:spcPts val="0"/>
              </a:spcAft>
              <a:buNone/>
            </a:pPr>
            <a:r>
              <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f7f05042c1_3_8"/>
          <p:cNvSpPr txBox="1"/>
          <p:nvPr/>
        </p:nvSpPr>
        <p:spPr>
          <a:xfrm>
            <a:off x="0" y="0"/>
            <a:ext cx="11724300" cy="680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800">
                <a:solidFill>
                  <a:schemeClr val="dk1"/>
                </a:solidFill>
              </a:rPr>
              <a:t>Uniqueness of the Project</a:t>
            </a:r>
            <a:endParaRPr b="1" sz="2800">
              <a:solidFill>
                <a:schemeClr val="dk1"/>
              </a:solidFill>
            </a:endParaRPr>
          </a:p>
          <a:p>
            <a:pPr indent="-355600" lvl="0" marL="457200" rtl="0" algn="l">
              <a:lnSpc>
                <a:spcPct val="115000"/>
              </a:lnSpc>
              <a:spcBef>
                <a:spcPts val="1200"/>
              </a:spcBef>
              <a:spcAft>
                <a:spcPts val="0"/>
              </a:spcAft>
              <a:buClr>
                <a:schemeClr val="dk1"/>
              </a:buClr>
              <a:buSzPts val="2000"/>
              <a:buChar char="●"/>
            </a:pPr>
            <a:r>
              <a:rPr b="1" lang="en-US" sz="2000">
                <a:solidFill>
                  <a:schemeClr val="dk1"/>
                </a:solidFill>
              </a:rPr>
              <a:t>End-to-End Research Automation</a:t>
            </a:r>
            <a:r>
              <a:rPr lang="en-US" sz="2000">
                <a:solidFill>
                  <a:schemeClr val="dk1"/>
                </a:solidFill>
              </a:rPr>
              <a:t> – Automates the entire research process, from query understanding to final report generation.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Multi-Source Literature Retrieval</a:t>
            </a:r>
            <a:r>
              <a:rPr lang="en-US" sz="2000">
                <a:solidFill>
                  <a:schemeClr val="dk1"/>
                </a:solidFill>
              </a:rPr>
              <a:t> – Simultaneously searches multiple academic databases such as </a:t>
            </a:r>
            <a:r>
              <a:rPr b="1" lang="en-US" sz="2000">
                <a:solidFill>
                  <a:schemeClr val="dk1"/>
                </a:solidFill>
              </a:rPr>
              <a:t>arXiv</a:t>
            </a:r>
            <a:r>
              <a:rPr lang="en-US" sz="2000">
                <a:solidFill>
                  <a:schemeClr val="dk1"/>
                </a:solidFill>
              </a:rPr>
              <a:t>, </a:t>
            </a:r>
            <a:r>
              <a:rPr b="1" lang="en-US" sz="2000">
                <a:solidFill>
                  <a:schemeClr val="dk1"/>
                </a:solidFill>
              </a:rPr>
              <a:t>CrossRef</a:t>
            </a:r>
            <a:r>
              <a:rPr lang="en-US" sz="2000">
                <a:solidFill>
                  <a:schemeClr val="dk1"/>
                </a:solidFill>
              </a:rPr>
              <a:t>, </a:t>
            </a:r>
            <a:r>
              <a:rPr b="1" lang="en-US" sz="2000">
                <a:solidFill>
                  <a:schemeClr val="dk1"/>
                </a:solidFill>
              </a:rPr>
              <a:t>Europe PMC</a:t>
            </a:r>
            <a:r>
              <a:rPr lang="en-US" sz="2000">
                <a:solidFill>
                  <a:schemeClr val="dk1"/>
                </a:solidFill>
              </a:rPr>
              <a:t>, and </a:t>
            </a:r>
            <a:r>
              <a:rPr b="1" lang="en-US" sz="2000">
                <a:solidFill>
                  <a:schemeClr val="dk1"/>
                </a:solidFill>
              </a:rPr>
              <a:t>Semantic Scholar</a:t>
            </a:r>
            <a:r>
              <a:rPr lang="en-US" sz="2000">
                <a:solidFill>
                  <a:schemeClr val="dk1"/>
                </a:solidFill>
              </a:rPr>
              <a:t> to provide comprehensive research coverage.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IBM Granite-Powered Intelligence</a:t>
            </a:r>
            <a:r>
              <a:rPr lang="en-US" sz="2000">
                <a:solidFill>
                  <a:schemeClr val="dk1"/>
                </a:solidFill>
              </a:rPr>
              <a:t> – Uses IBM Granite Models for advanced reasoning, summarization, hypothesis generation, and academic report writing.</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Agentic AI Workflow</a:t>
            </a:r>
            <a:r>
              <a:rPr lang="en-US" sz="2000">
                <a:solidFill>
                  <a:schemeClr val="dk1"/>
                </a:solidFill>
              </a:rPr>
              <a:t> – Coordinates multiple AI tasks autonomously, including literature retrieval, analysis, citation management, and report generation.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Automatic Research Gap Identification</a:t>
            </a:r>
            <a:r>
              <a:rPr lang="en-US" sz="2000">
                <a:solidFill>
                  <a:schemeClr val="dk1"/>
                </a:solidFill>
              </a:rPr>
              <a:t> – Helps researchers identify unexplored areas and generate potential research directions.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Integrated Citation Management</a:t>
            </a:r>
            <a:r>
              <a:rPr lang="en-US" sz="2000">
                <a:solidFill>
                  <a:schemeClr val="dk1"/>
                </a:solidFill>
              </a:rPr>
              <a:t> – Automatically formats references in APA, IEEE, MLA, or Chicago styles.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Interactive Web Interface</a:t>
            </a:r>
            <a:r>
              <a:rPr lang="en-US" sz="2000">
                <a:solidFill>
                  <a:schemeClr val="dk1"/>
                </a:solidFill>
              </a:rPr>
              <a:t> – Provides a user-friendly Streamlit dashboard for entering research queries, viewing summaries, and downloading reports.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US" sz="2000">
                <a:solidFill>
                  <a:schemeClr val="dk1"/>
                </a:solidFill>
              </a:rPr>
              <a:t>Cost-Effective Cloud Deployment</a:t>
            </a:r>
            <a:r>
              <a:rPr lang="en-US" sz="2000">
                <a:solidFill>
                  <a:schemeClr val="dk1"/>
                </a:solidFill>
              </a:rPr>
              <a:t> – Built using IBM Cloud Lite, making the solution suitable for students, researchers, and educational institutions without requiring expensive infrastructure.</a:t>
            </a:r>
            <a:endParaRPr sz="20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41"/>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83" name="Google Shape;183;p41"/>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Please create public github repository (Enable Add README  button while creating repository) with format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Please test and Paste the working  Github URL –https://github.com/revuz1210-source/research-agent </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84" name="Google Shape;184;p4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5" name="Google Shape;185;p4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86" name="Google Shape;186;p4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42"/>
          <p:cNvSpPr/>
          <p:nvPr/>
        </p:nvSpPr>
        <p:spPr>
          <a:xfrm>
            <a:off x="352251" y="234401"/>
            <a:ext cx="7186800" cy="7662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800" u="none" cap="none" strike="noStrike">
                <a:solidFill>
                  <a:srgbClr val="000000"/>
                </a:solidFill>
                <a:latin typeface="Arial"/>
                <a:ea typeface="Arial"/>
                <a:cs typeface="Arial"/>
                <a:sym typeface="Arial"/>
              </a:rPr>
              <a:t>Future Scope </a:t>
            </a:r>
            <a:endParaRPr b="1" i="0" sz="2800" u="none" cap="none" strike="noStrike">
              <a:solidFill>
                <a:srgbClr val="000000"/>
              </a:solidFill>
              <a:latin typeface="Arial"/>
              <a:ea typeface="Arial"/>
              <a:cs typeface="Arial"/>
              <a:sym typeface="Arial"/>
            </a:endParaRPr>
          </a:p>
        </p:txBody>
      </p:sp>
      <p:sp>
        <p:nvSpPr>
          <p:cNvPr id="192" name="Google Shape;192;p42"/>
          <p:cNvSpPr/>
          <p:nvPr/>
        </p:nvSpPr>
        <p:spPr>
          <a:xfrm>
            <a:off x="476550" y="911625"/>
            <a:ext cx="9956700" cy="52005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lang="en-US" sz="2000">
                <a:solidFill>
                  <a:srgbClr val="2B3541"/>
                </a:solidFill>
                <a:latin typeface="Times New Roman"/>
                <a:ea typeface="Times New Roman"/>
                <a:cs typeface="Times New Roman"/>
                <a:sym typeface="Times New Roman"/>
              </a:rPr>
              <a:t>E</a:t>
            </a:r>
            <a:r>
              <a:rPr b="1" lang="en-US" sz="2000">
                <a:solidFill>
                  <a:srgbClr val="2B3541"/>
                </a:solidFill>
              </a:rPr>
              <a:t>nhance Agentic AI with autonomous planning and decision-making.</a:t>
            </a:r>
            <a:endParaRPr b="1" sz="2000">
              <a:solidFill>
                <a:srgbClr val="2B3541"/>
              </a:solidFill>
            </a:endParaRPr>
          </a:p>
          <a:p>
            <a:pPr indent="0" lvl="0" marL="0" rtl="0" algn="l">
              <a:lnSpc>
                <a:spcPct val="162162"/>
              </a:lnSpc>
              <a:spcBef>
                <a:spcPts val="0"/>
              </a:spcBef>
              <a:spcAft>
                <a:spcPts val="0"/>
              </a:spcAft>
              <a:buClr>
                <a:schemeClr val="dk1"/>
              </a:buClr>
              <a:buSzPts val="1100"/>
              <a:buFont typeface="Arial"/>
              <a:buNone/>
            </a:pPr>
            <a:r>
              <a:rPr b="1" lang="en-US" sz="2000">
                <a:solidFill>
                  <a:srgbClr val="2B3541"/>
                </a:solidFill>
              </a:rPr>
              <a:t>Integrate IEEE Xplore, ACM, Springer, and PubMed.</a:t>
            </a:r>
            <a:endParaRPr b="1" sz="2000">
              <a:solidFill>
                <a:srgbClr val="2B3541"/>
              </a:solidFill>
            </a:endParaRPr>
          </a:p>
          <a:p>
            <a:pPr indent="0" lvl="0" marL="0" rtl="0" algn="l">
              <a:lnSpc>
                <a:spcPct val="162162"/>
              </a:lnSpc>
              <a:spcBef>
                <a:spcPts val="0"/>
              </a:spcBef>
              <a:spcAft>
                <a:spcPts val="0"/>
              </a:spcAft>
              <a:buClr>
                <a:schemeClr val="dk1"/>
              </a:buClr>
              <a:buSzPts val="1100"/>
              <a:buFont typeface="Arial"/>
              <a:buNone/>
            </a:pPr>
            <a:r>
              <a:rPr b="1" lang="en-US" sz="2000">
                <a:solidFill>
                  <a:srgbClr val="2B3541"/>
                </a:solidFill>
              </a:rPr>
              <a:t>Support PDF, image, and graph analysis.</a:t>
            </a:r>
            <a:endParaRPr b="1" sz="2000">
              <a:solidFill>
                <a:srgbClr val="2B3541"/>
              </a:solidFill>
            </a:endParaRPr>
          </a:p>
          <a:p>
            <a:pPr indent="0" lvl="0" marL="0" rtl="0" algn="l">
              <a:lnSpc>
                <a:spcPct val="162162"/>
              </a:lnSpc>
              <a:spcBef>
                <a:spcPts val="0"/>
              </a:spcBef>
              <a:spcAft>
                <a:spcPts val="0"/>
              </a:spcAft>
              <a:buClr>
                <a:schemeClr val="dk1"/>
              </a:buClr>
              <a:buSzPts val="1100"/>
              <a:buFont typeface="Arial"/>
              <a:buNone/>
            </a:pPr>
            <a:r>
              <a:rPr b="1" lang="en-US" sz="2000">
                <a:solidFill>
                  <a:srgbClr val="2B3541"/>
                </a:solidFill>
              </a:rPr>
              <a:t>Predict emerging research trends using AI.</a:t>
            </a:r>
            <a:endParaRPr b="1" sz="2000">
              <a:solidFill>
                <a:srgbClr val="2B3541"/>
              </a:solidFill>
            </a:endParaRPr>
          </a:p>
          <a:p>
            <a:pPr indent="0" lvl="0" marL="0" rtl="0" algn="l">
              <a:lnSpc>
                <a:spcPct val="162162"/>
              </a:lnSpc>
              <a:spcBef>
                <a:spcPts val="0"/>
              </a:spcBef>
              <a:spcAft>
                <a:spcPts val="0"/>
              </a:spcAft>
              <a:buClr>
                <a:schemeClr val="dk1"/>
              </a:buClr>
              <a:buSzPts val="1100"/>
              <a:buFont typeface="Arial"/>
              <a:buNone/>
            </a:pPr>
            <a:r>
              <a:rPr b="1" lang="en-US" sz="2000">
                <a:solidFill>
                  <a:srgbClr val="2B3541"/>
                </a:solidFill>
              </a:rPr>
              <a:t>Enable collaborative research workspaces.</a:t>
            </a:r>
            <a:endParaRPr b="1" sz="2000">
              <a:solidFill>
                <a:srgbClr val="2B3541"/>
              </a:solidFill>
            </a:endParaRPr>
          </a:p>
          <a:p>
            <a:pPr indent="0" lvl="0" marL="0" rtl="0" algn="l">
              <a:lnSpc>
                <a:spcPct val="162162"/>
              </a:lnSpc>
              <a:spcBef>
                <a:spcPts val="0"/>
              </a:spcBef>
              <a:spcAft>
                <a:spcPts val="0"/>
              </a:spcAft>
              <a:buClr>
                <a:schemeClr val="dk1"/>
              </a:buClr>
              <a:buSzPts val="1100"/>
              <a:buFont typeface="Arial"/>
              <a:buNone/>
            </a:pPr>
            <a:r>
              <a:rPr b="1" lang="en-US" sz="2000">
                <a:solidFill>
                  <a:srgbClr val="2B3541"/>
                </a:solidFill>
              </a:rPr>
              <a:t>Add personalized paper recommendations.</a:t>
            </a:r>
            <a:endParaRPr b="1" sz="2000">
              <a:solidFill>
                <a:srgbClr val="2B3541"/>
              </a:solidFill>
            </a:endParaRPr>
          </a:p>
          <a:p>
            <a:pPr indent="0" lvl="0" marL="0" rtl="0" algn="l">
              <a:lnSpc>
                <a:spcPct val="162162"/>
              </a:lnSpc>
              <a:spcBef>
                <a:spcPts val="0"/>
              </a:spcBef>
              <a:spcAft>
                <a:spcPts val="0"/>
              </a:spcAft>
              <a:buClr>
                <a:schemeClr val="dk1"/>
              </a:buClr>
              <a:buSzPts val="1100"/>
              <a:buFont typeface="Arial"/>
              <a:buNone/>
            </a:pPr>
            <a:r>
              <a:rPr b="1" lang="en-US" sz="2000">
                <a:solidFill>
                  <a:srgbClr val="2B3541"/>
                </a:solidFill>
              </a:rPr>
              <a:t>Develop a voice-enabled research assistant.</a:t>
            </a:r>
            <a:endParaRPr b="1" sz="2000">
              <a:solidFill>
                <a:srgbClr val="2B3541"/>
              </a:solidFill>
            </a:endParaRPr>
          </a:p>
          <a:p>
            <a:pPr indent="0" lvl="0" marL="0" rtl="0" algn="l">
              <a:lnSpc>
                <a:spcPct val="162162"/>
              </a:lnSpc>
              <a:spcBef>
                <a:spcPts val="0"/>
              </a:spcBef>
              <a:spcAft>
                <a:spcPts val="0"/>
              </a:spcAft>
              <a:buClr>
                <a:schemeClr val="dk1"/>
              </a:buClr>
              <a:buSzPts val="1100"/>
              <a:buFont typeface="Arial"/>
              <a:buNone/>
            </a:pPr>
            <a:r>
              <a:rPr b="1" lang="en-US" sz="2000">
                <a:solidFill>
                  <a:srgbClr val="2B3541"/>
                </a:solidFill>
              </a:rPr>
              <a:t>Implement knowledge graph</a:t>
            </a:r>
            <a:r>
              <a:rPr b="1" lang="en-US" sz="2000">
                <a:solidFill>
                  <a:srgbClr val="2B3541"/>
                </a:solidFill>
                <a:latin typeface="Times New Roman"/>
                <a:ea typeface="Times New Roman"/>
                <a:cs typeface="Times New Roman"/>
                <a:sym typeface="Times New Roman"/>
              </a:rPr>
              <a:t> visualization.</a:t>
            </a:r>
            <a:endParaRPr b="1" sz="2000">
              <a:solidFill>
                <a:srgbClr val="2B3541"/>
              </a:solidFill>
              <a:latin typeface="Times New Roman"/>
              <a:ea typeface="Times New Roman"/>
              <a:cs typeface="Times New Roman"/>
              <a:sym typeface="Times New Roman"/>
            </a:endParaRPr>
          </a:p>
          <a:p>
            <a:pPr indent="0" lvl="0" marL="0" rtl="0" algn="l">
              <a:lnSpc>
                <a:spcPct val="162162"/>
              </a:lnSpc>
              <a:spcBef>
                <a:spcPts val="0"/>
              </a:spcBef>
              <a:spcAft>
                <a:spcPts val="0"/>
              </a:spcAft>
              <a:buClr>
                <a:schemeClr val="dk1"/>
              </a:buClr>
              <a:buSzPts val="1100"/>
              <a:buFont typeface="Arial"/>
              <a:buNone/>
            </a:pPr>
            <a:r>
              <a:rPr b="1" lang="en-US" sz="2000">
                <a:solidFill>
                  <a:srgbClr val="2B3541"/>
                </a:solidFill>
                <a:latin typeface="Times New Roman"/>
                <a:ea typeface="Times New Roman"/>
                <a:cs typeface="Times New Roman"/>
                <a:sym typeface="Times New Roman"/>
              </a:rPr>
              <a:t>Scale deployment using IBM Cloud.</a:t>
            </a:r>
            <a:endParaRPr b="1" sz="2000">
              <a:solidFill>
                <a:srgbClr val="2B3541"/>
              </a:solidFill>
              <a:latin typeface="Times New Roman"/>
              <a:ea typeface="Times New Roman"/>
              <a:cs typeface="Times New Roman"/>
              <a:sym typeface="Times New Roman"/>
            </a:endParaRPr>
          </a:p>
          <a:p>
            <a:pPr indent="0" lvl="0" marL="0" rtl="0" algn="l">
              <a:lnSpc>
                <a:spcPct val="162162"/>
              </a:lnSpc>
              <a:spcBef>
                <a:spcPts val="0"/>
              </a:spcBef>
              <a:spcAft>
                <a:spcPts val="0"/>
              </a:spcAft>
              <a:buClr>
                <a:schemeClr val="dk1"/>
              </a:buClr>
              <a:buSzPts val="1100"/>
              <a:buFont typeface="Arial"/>
              <a:buNone/>
            </a:pPr>
            <a:r>
              <a:rPr b="1" lang="en-US" sz="2000">
                <a:solidFill>
                  <a:srgbClr val="2B3541"/>
                </a:solidFill>
                <a:latin typeface="Times New Roman"/>
                <a:ea typeface="Times New Roman"/>
                <a:cs typeface="Times New Roman"/>
                <a:sym typeface="Times New Roman"/>
              </a:rPr>
              <a:t>Support multilingual research and plagiarism detection.</a:t>
            </a:r>
            <a:endParaRPr b="1" sz="2000">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Clr>
                <a:srgbClr val="2B3541"/>
              </a:buClr>
              <a:buSzPts val="1850"/>
              <a:buFont typeface="Times New Roman"/>
              <a:buNone/>
            </a:pPr>
            <a:r>
              <a:t/>
            </a:r>
            <a:endParaRPr b="1" sz="2000">
              <a:solidFill>
                <a:srgbClr val="2B3541"/>
              </a:solidFill>
              <a:latin typeface="Times New Roman"/>
              <a:ea typeface="Times New Roman"/>
              <a:cs typeface="Times New Roman"/>
              <a:sym typeface="Times New Roman"/>
            </a:endParaRPr>
          </a:p>
        </p:txBody>
      </p:sp>
      <p:sp>
        <p:nvSpPr>
          <p:cNvPr id="193" name="Google Shape;193;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4" name="Google Shape;194;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95" name="Google Shape;195;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3"/>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p43"/>
          <p:cNvSpPr txBox="1"/>
          <p:nvPr/>
        </p:nvSpPr>
        <p:spPr>
          <a:xfrm>
            <a:off x="552048" y="690061"/>
            <a:ext cx="638996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Please  add your credly certificate </a:t>
            </a:r>
            <a:endParaRPr/>
          </a:p>
        </p:txBody>
      </p:sp>
      <p:pic>
        <p:nvPicPr>
          <p:cNvPr id="202" name="Google Shape;202;p43" title="Screenshot_2026-07-10-20-36-55-20_99c04817c0de5652397fc8b56c3b3817~2.jpg"/>
          <p:cNvPicPr preferRelativeResize="0"/>
          <p:nvPr/>
        </p:nvPicPr>
        <p:blipFill>
          <a:blip r:embed="rId3">
            <a:alphaModFix/>
          </a:blip>
          <a:stretch>
            <a:fillRect/>
          </a:stretch>
        </p:blipFill>
        <p:spPr>
          <a:xfrm>
            <a:off x="152400" y="1365675"/>
            <a:ext cx="8867551" cy="5067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4"/>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p44"/>
          <p:cNvSpPr txBox="1"/>
          <p:nvPr/>
        </p:nvSpPr>
        <p:spPr>
          <a:xfrm>
            <a:off x="496843" y="800470"/>
            <a:ext cx="54376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Add your IBM BOB Certificate</a:t>
            </a:r>
            <a:endParaRPr/>
          </a:p>
        </p:txBody>
      </p:sp>
      <p:pic>
        <p:nvPicPr>
          <p:cNvPr id="209" name="Google Shape;209;p44" title="IMG-20260710-WA0019.jpg"/>
          <p:cNvPicPr preferRelativeResize="0"/>
          <p:nvPr/>
        </p:nvPicPr>
        <p:blipFill>
          <a:blip r:embed="rId3">
            <a:alphaModFix/>
          </a:blip>
          <a:stretch>
            <a:fillRect/>
          </a:stretch>
        </p:blipFill>
        <p:spPr>
          <a:xfrm>
            <a:off x="152400" y="1352980"/>
            <a:ext cx="9867900" cy="4981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